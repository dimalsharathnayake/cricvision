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95" r:id="rId5"/>
    <p:sldId id="264" r:id="rId6"/>
    <p:sldId id="298" r:id="rId7"/>
    <p:sldId id="296" r:id="rId8"/>
    <p:sldId id="299" r:id="rId9"/>
    <p:sldId id="300" r:id="rId10"/>
    <p:sldId id="301" r:id="rId11"/>
    <p:sldId id="29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>
      <p:cViewPr varScale="1">
        <p:scale>
          <a:sx n="48" d="100"/>
          <a:sy n="48" d="100"/>
        </p:scale>
        <p:origin x="77" y="80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9" d="100"/>
          <a:sy n="69" d="100"/>
        </p:scale>
        <p:origin x="2568" y="3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BAAE38-79BE-4082-9A4D-2BEC47341C0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F15613-D24F-46B4-9010-BD7B318E3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0503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5BCF22-2D75-4779-9C8B-6270AA3FA919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0B8AC8-E212-48B2-9917-7448FC83D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590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roject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762000"/>
            <a:ext cx="103632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the Project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800" y="25146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Project ID</a:t>
            </a:r>
          </a:p>
        </p:txBody>
      </p:sp>
      <p:pic>
        <p:nvPicPr>
          <p:cNvPr id="20" name="Picture 19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C4A8CD1C-223D-4C87-9519-FDBD49BC59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449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20" name="Picture 19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C4A8CD1C-223D-4C87-9519-FDBD49BC59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088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dividua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 dirty="0"/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1188891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al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20238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283708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4237261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Sub-Titles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C29E58-4878-471A-A8CF-FA8607A4052E}"/>
              </a:ext>
            </a:extLst>
          </p:cNvPr>
          <p:cNvSpPr/>
          <p:nvPr userDrawn="1"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ITXXXXXXXX</a:t>
            </a:r>
            <a:r>
              <a:rPr lang="en-US" sz="1800" dirty="0">
                <a:solidFill>
                  <a:schemeClr val="tx1"/>
                </a:solidFill>
              </a:rPr>
              <a:t>   |   &lt;</a:t>
            </a:r>
            <a:r>
              <a:rPr lang="en-US" sz="1800" b="1" dirty="0">
                <a:solidFill>
                  <a:schemeClr val="tx1"/>
                </a:solidFill>
              </a:rPr>
              <a:t>&lt;Student Name&gt;&gt; 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sz="1800" b="0" dirty="0">
                <a:solidFill>
                  <a:schemeClr val="tx1"/>
                </a:solidFill>
              </a:rPr>
              <a:t>&lt;&lt;Project ID&gt;&gt;</a:t>
            </a:r>
          </a:p>
        </p:txBody>
      </p:sp>
    </p:spTree>
    <p:extLst>
      <p:ext uri="{BB962C8B-B14F-4D97-AF65-F5344CB8AC3E}">
        <p14:creationId xmlns:p14="http://schemas.microsoft.com/office/powerpoint/2010/main" val="3293331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tudent Information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283708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Student IT Number | Student Name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4237261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Student’s Specialization</a:t>
            </a:r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8789F7-2DE1-4BD0-98A0-4D627E8C7924}"/>
              </a:ext>
            </a:extLst>
          </p:cNvPr>
          <p:cNvSpPr/>
          <p:nvPr userDrawn="1"/>
        </p:nvSpPr>
        <p:spPr>
          <a:xfrm>
            <a:off x="10134600" y="152400"/>
            <a:ext cx="1981200" cy="2286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Student Must add a professional photo to this cage</a:t>
            </a:r>
          </a:p>
        </p:txBody>
      </p:sp>
    </p:spTree>
    <p:extLst>
      <p:ext uri="{BB962C8B-B14F-4D97-AF65-F5344CB8AC3E}">
        <p14:creationId xmlns:p14="http://schemas.microsoft.com/office/powerpoint/2010/main" val="2008593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30358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57086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65089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1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75490AD-C6C9-4021-8C34-1F6444AB48BF}"/>
              </a:ext>
            </a:extLst>
          </p:cNvPr>
          <p:cNvSpPr txBox="1">
            <a:spLocks/>
          </p:cNvSpPr>
          <p:nvPr userDrawn="1"/>
        </p:nvSpPr>
        <p:spPr>
          <a:xfrm>
            <a:off x="11435142" y="6492875"/>
            <a:ext cx="6806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D6051F-EF20-4D26-A49B-A9D5F0B34CE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222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二等辺三角形 11"/>
          <p:cNvSpPr/>
          <p:nvPr userDrawn="1"/>
        </p:nvSpPr>
        <p:spPr>
          <a:xfrm>
            <a:off x="0" y="6406010"/>
            <a:ext cx="12192000" cy="452885"/>
          </a:xfrm>
          <a:prstGeom prst="triangle">
            <a:avLst>
              <a:gd name="adj" fmla="val 85448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4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557430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7524049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36120786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3310850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11684000" cy="792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143000"/>
            <a:ext cx="11684000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064364F-1F37-4C7B-B31F-2D4F671B2CB9}"/>
              </a:ext>
            </a:extLst>
          </p:cNvPr>
          <p:cNvSpPr txBox="1">
            <a:spLocks/>
          </p:cNvSpPr>
          <p:nvPr userDrawn="1"/>
        </p:nvSpPr>
        <p:spPr>
          <a:xfrm>
            <a:off x="11435142" y="6492875"/>
            <a:ext cx="6806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D6051F-EF20-4D26-A49B-A9D5F0B34CE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0503738D-67F6-4FC8-88E8-C0D768AD33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6EC11E-4ADA-413C-92B1-C0871F068AF1}"/>
              </a:ext>
            </a:extLst>
          </p:cNvPr>
          <p:cNvSpPr txBox="1"/>
          <p:nvPr userDrawn="1"/>
        </p:nvSpPr>
        <p:spPr>
          <a:xfrm>
            <a:off x="10287000" y="6536937"/>
            <a:ext cx="1066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98C4007C-554A-4B16-A31C-089CB53EF86F}" type="datetime1">
              <a:rPr lang="en-US" sz="1200" b="1" smtClean="0"/>
              <a:t>5/3/2026</a:t>
            </a:fld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4137453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50" r:id="rId3"/>
    <p:sldLayoutId id="2147483662" r:id="rId4"/>
    <p:sldLayoutId id="2147483651" r:id="rId5"/>
    <p:sldLayoutId id="2147483660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dobe Devanagari" pitchFamily="18" charset="0"/>
          <a:ea typeface="+mj-ea"/>
          <a:cs typeface="Adobe Devanagari" pitchFamily="18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Wingdings" pitchFamily="2" charset="2"/>
        <a:buChar char="Ø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9F014-595B-83F1-44E7-60F561FD3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4EEE3D2-5D0F-2E2D-BB44-AD53536E9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" y="990600"/>
            <a:ext cx="11684000" cy="792162"/>
          </a:xfrm>
        </p:spPr>
        <p:txBody>
          <a:bodyPr>
            <a:noAutofit/>
          </a:bodyPr>
          <a:lstStyle/>
          <a:p>
            <a:br>
              <a:rPr lang="en-US" sz="3600" dirty="0">
                <a:highlight>
                  <a:srgbClr val="FFFF00"/>
                </a:highlight>
              </a:rPr>
            </a:br>
            <a:r>
              <a:rPr lang="en-US" sz="3600" b="1" dirty="0">
                <a:highlight>
                  <a:srgbClr val="FFFF00"/>
                </a:highlight>
              </a:rPr>
              <a:t>CRICVISION</a:t>
            </a:r>
            <a:r>
              <a:rPr lang="en-US" sz="3600" dirty="0">
                <a:highlight>
                  <a:srgbClr val="FFFF00"/>
                </a:highlight>
              </a:rPr>
              <a:t>-MULTIMODAL CRICKET VIDEO SEGMENTATION AND RETRIEVAL BY PLAYER IDENTITY AND EVENT TYPE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5280392-BA3A-250B-0227-F6BB07BCC93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927100" y="3749280"/>
            <a:ext cx="9829800" cy="266700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4400" b="1" dirty="0"/>
              <a:t>25-26J-148</a:t>
            </a:r>
          </a:p>
        </p:txBody>
      </p:sp>
    </p:spTree>
    <p:extLst>
      <p:ext uri="{BB962C8B-B14F-4D97-AF65-F5344CB8AC3E}">
        <p14:creationId xmlns:p14="http://schemas.microsoft.com/office/powerpoint/2010/main" val="512671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755AF9-6AEA-4BCA-A1A2-C57A58214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084" y="2494330"/>
            <a:ext cx="10363200" cy="1362075"/>
          </a:xfrm>
        </p:spPr>
        <p:txBody>
          <a:bodyPr/>
          <a:lstStyle/>
          <a:p>
            <a:pPr algn="ctr"/>
            <a:r>
              <a:rPr lang="en-US" dirty="0"/>
              <a:t>IT22141606  |  RATHNAYAKE R.M.N.D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7A91C59-28F0-4A9C-ACA2-19A536A0C3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0017" y="3521832"/>
            <a:ext cx="10619316" cy="1161092"/>
          </a:xfrm>
        </p:spPr>
        <p:txBody>
          <a:bodyPr>
            <a:normAutofit fontScale="62500" lnSpcReduction="20000"/>
          </a:bodyPr>
          <a:lstStyle/>
          <a:p>
            <a:endParaRPr lang="en-US" sz="3200" dirty="0">
              <a:highlight>
                <a:srgbClr val="FFFF00"/>
              </a:highlight>
            </a:endParaRPr>
          </a:p>
          <a:p>
            <a:pPr algn="ctr"/>
            <a:r>
              <a:rPr lang="en-US" sz="4600" b="1" dirty="0">
                <a:solidFill>
                  <a:schemeClr val="tx1"/>
                </a:solidFill>
                <a:highlight>
                  <a:srgbClr val="FFFF00"/>
                </a:highlight>
              </a:rPr>
              <a:t>MULTIMODAL CRICKET VIDEO SEGMENTATION AND RETRIEVAL BY PLAYER IDENTITY AND EVENT TYPE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B98E66-DBD5-4B29-AC68-A58A70C64231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IT22141606</a:t>
            </a:r>
            <a:r>
              <a:rPr lang="en-US" sz="1800" dirty="0">
                <a:solidFill>
                  <a:schemeClr val="tx1"/>
                </a:solidFill>
              </a:rPr>
              <a:t>   |   RATHNAYAKE R.M.N.D  |   </a:t>
            </a:r>
            <a:r>
              <a:rPr lang="en-US" sz="1800" b="0" dirty="0">
                <a:solidFill>
                  <a:schemeClr val="tx1"/>
                </a:solidFill>
              </a:rPr>
              <a:t>25-26J-148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8E0DCB2-954B-2125-E7C6-8CFDDDB8F7F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4600" y="152400"/>
            <a:ext cx="1981200" cy="234192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FFFEF1C-DD38-55DB-304A-E5771020F475}"/>
              </a:ext>
            </a:extLst>
          </p:cNvPr>
          <p:cNvSpPr txBox="1"/>
          <p:nvPr/>
        </p:nvSpPr>
        <p:spPr>
          <a:xfrm>
            <a:off x="1060452" y="4682924"/>
            <a:ext cx="102658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dirty="0">
                <a:solidFill>
                  <a:srgbClr val="000000"/>
                </a:solidFill>
                <a:latin typeface="Times New Roman"/>
              </a:rPr>
              <a:t>My component focuses on identifying player names and roles from the scoreboard, associating players with detected cricket events, and enabling player-wise retrieval through the dashboard.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81409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7785A-DB18-9C32-4061-96B6A35E1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334B197-9A4E-F2C3-CB74-454A565FC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336085"/>
            <a:ext cx="11684000" cy="792162"/>
          </a:xfrm>
        </p:spPr>
        <p:txBody>
          <a:bodyPr>
            <a:noAutofit/>
          </a:bodyPr>
          <a:lstStyle/>
          <a:p>
            <a:r>
              <a:rPr lang="en-US" sz="3200" dirty="0">
                <a:highlight>
                  <a:srgbClr val="FFFF00"/>
                </a:highlight>
              </a:rPr>
              <a:t>MULTIMODAL CRICKET VIDEO SEGMENTATION AND RETRIEVAL BY PLAYER IDENTITY AND EVENT TYPE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ADA196B-B790-92C1-AEF3-683C2AE47FD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50461" y="1238617"/>
            <a:ext cx="6096852" cy="475488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u="sng" dirty="0"/>
              <a:t>PP2 comments                                    </a:t>
            </a:r>
          </a:p>
          <a:p>
            <a:r>
              <a:rPr lang="en-US" dirty="0">
                <a:latin typeface="Times New Roman"/>
              </a:rPr>
              <a:t>It is better to automate the player dictionary creation rather than filling a form manually.</a:t>
            </a:r>
          </a:p>
          <a:p>
            <a:pPr marL="0" indent="0">
              <a:buNone/>
            </a:pPr>
            <a:r>
              <a:rPr lang="en-US" sz="3600" dirty="0"/>
              <a:t> </a:t>
            </a: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D874308A-4AEC-6652-A086-4C3FE8B0F169}"/>
              </a:ext>
            </a:extLst>
          </p:cNvPr>
          <p:cNvSpPr txBox="1">
            <a:spLocks/>
          </p:cNvSpPr>
          <p:nvPr/>
        </p:nvSpPr>
        <p:spPr>
          <a:xfrm>
            <a:off x="6547313" y="1281545"/>
            <a:ext cx="5339888" cy="47548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u="sng" dirty="0"/>
              <a:t>Action Taken</a:t>
            </a:r>
          </a:p>
          <a:p>
            <a:r>
              <a:rPr lang="en-US" dirty="0">
                <a:latin typeface="Times New Roman"/>
              </a:rPr>
              <a:t>Automated player name typing by allowing the user to upload a player-list image.</a:t>
            </a:r>
          </a:p>
          <a:p>
            <a:r>
              <a:rPr lang="en-US" dirty="0">
                <a:latin typeface="Times New Roman"/>
              </a:rPr>
              <a:t>The system extracts team name and player names automatically using OCR and fills the form automatically.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63D0AB-7328-B2FB-1A5D-ACF169B91B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082" y="3383902"/>
            <a:ext cx="5193375" cy="305982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34E55CA-4948-58AE-2482-0E8F5E889822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IT22141606</a:t>
            </a:r>
            <a:r>
              <a:rPr lang="en-US" sz="1800" dirty="0">
                <a:solidFill>
                  <a:schemeClr val="tx1"/>
                </a:solidFill>
              </a:rPr>
              <a:t>   |   RATHNAYAKE R.M.N.D  |   </a:t>
            </a:r>
            <a:r>
              <a:rPr lang="en-US" sz="1800" b="0" dirty="0">
                <a:solidFill>
                  <a:schemeClr val="tx1"/>
                </a:solidFill>
              </a:rPr>
              <a:t>25-26J-148</a:t>
            </a:r>
          </a:p>
        </p:txBody>
      </p:sp>
    </p:spTree>
    <p:extLst>
      <p:ext uri="{BB962C8B-B14F-4D97-AF65-F5344CB8AC3E}">
        <p14:creationId xmlns:p14="http://schemas.microsoft.com/office/powerpoint/2010/main" val="1141259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45EA0-B31E-6936-FFA2-5D0395D29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15833B6-0FFE-E7A7-82EB-A2E57F066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" y="509853"/>
            <a:ext cx="11684000" cy="792162"/>
          </a:xfrm>
        </p:spPr>
        <p:txBody>
          <a:bodyPr>
            <a:noAutofit/>
          </a:bodyPr>
          <a:lstStyle/>
          <a:p>
            <a:r>
              <a:rPr lang="en-US" sz="3200" dirty="0">
                <a:highlight>
                  <a:srgbClr val="FFFF00"/>
                </a:highlight>
              </a:rPr>
              <a:t>MULTIMODAL CRICKET VIDEO SEGMENTATION AND RETRIEVAL BY PLAYER IDENTITY AND EVENT TYPE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E824E92-6D22-6C11-8004-E06A6552DC1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85800" y="1818480"/>
            <a:ext cx="5410200" cy="2286000"/>
          </a:xfrm>
        </p:spPr>
        <p:txBody>
          <a:bodyPr>
            <a:noAutofit/>
          </a:bodyPr>
          <a:lstStyle/>
          <a:p>
            <a:r>
              <a:rPr lang="en-US" sz="3600" u="sng" dirty="0"/>
              <a:t>Problem &amp; Its Impact</a:t>
            </a:r>
            <a:endParaRPr lang="en-US" sz="3600" dirty="0"/>
          </a:p>
          <a:p>
            <a:pPr marL="0" indent="0">
              <a:buNone/>
            </a:pPr>
            <a:r>
              <a:rPr lang="en-US" sz="2400" dirty="0"/>
              <a:t>Cricket videos are long, and manually finding player-specific events such as boundaries, wickets, batsman changes, or bowler spells is time-consuming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D9BD18-81FE-9DCF-B8D4-E082B7A9DBCD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IT22141606</a:t>
            </a:r>
            <a:r>
              <a:rPr lang="en-US" sz="1800" dirty="0">
                <a:solidFill>
                  <a:schemeClr val="tx1"/>
                </a:solidFill>
              </a:rPr>
              <a:t>   |   RATHNAYAKE R.M.N.D  |   </a:t>
            </a:r>
            <a:r>
              <a:rPr lang="en-US" sz="1800" b="0" dirty="0">
                <a:solidFill>
                  <a:schemeClr val="tx1"/>
                </a:solidFill>
              </a:rPr>
              <a:t>25-26J-148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6A4C5048-2E6E-45A8-BD79-6522A1B4B9EE}"/>
              </a:ext>
            </a:extLst>
          </p:cNvPr>
          <p:cNvSpPr txBox="1">
            <a:spLocks/>
          </p:cNvSpPr>
          <p:nvPr/>
        </p:nvSpPr>
        <p:spPr>
          <a:xfrm>
            <a:off x="6129867" y="1801547"/>
            <a:ext cx="5410200" cy="4267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u="sng" dirty="0"/>
              <a:t>Overall Solution</a:t>
            </a:r>
          </a:p>
          <a:p>
            <a:pPr marL="0" indent="0">
              <a:buNone/>
            </a:pPr>
            <a:r>
              <a:rPr lang="en-US" sz="2400" dirty="0"/>
              <a:t>The system processes uploaded cricket videos and creates timestamp-based player-event segments automatically.</a:t>
            </a:r>
          </a:p>
          <a:p>
            <a:endParaRPr lang="en-US" sz="3600" dirty="0"/>
          </a:p>
          <a:p>
            <a:endParaRPr lang="en-US" sz="3600" dirty="0"/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C173EB05-F096-4D57-D908-D14BA82FD1D1}"/>
              </a:ext>
            </a:extLst>
          </p:cNvPr>
          <p:cNvSpPr txBox="1">
            <a:spLocks/>
          </p:cNvSpPr>
          <p:nvPr/>
        </p:nvSpPr>
        <p:spPr>
          <a:xfrm>
            <a:off x="651933" y="4053680"/>
            <a:ext cx="10515600" cy="2286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u="sng" dirty="0"/>
              <a:t>Design Excellence</a:t>
            </a:r>
            <a:endParaRPr lang="en-US" sz="3600" dirty="0"/>
          </a:p>
          <a:p>
            <a:pPr marL="0" indent="0">
              <a:buNone/>
            </a:pPr>
            <a:r>
              <a:rPr lang="en-US" sz="2400" dirty="0"/>
              <a:t>It combines scoreboard OCR, player role extraction, umpire signal classification, timestamp synchronization, and an interactive dashboard for direct video navigation.</a:t>
            </a:r>
          </a:p>
        </p:txBody>
      </p:sp>
    </p:spTree>
    <p:extLst>
      <p:ext uri="{BB962C8B-B14F-4D97-AF65-F5344CB8AC3E}">
        <p14:creationId xmlns:p14="http://schemas.microsoft.com/office/powerpoint/2010/main" val="1945787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7B6EB-9849-57EC-10CB-55D88E2B9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C0D14D7-3C45-EF7B-8206-78BE61CD5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" y="509853"/>
            <a:ext cx="11684000" cy="792162"/>
          </a:xfrm>
        </p:spPr>
        <p:txBody>
          <a:bodyPr>
            <a:noAutofit/>
          </a:bodyPr>
          <a:lstStyle/>
          <a:p>
            <a:r>
              <a:rPr lang="en-US" sz="3200" dirty="0">
                <a:highlight>
                  <a:srgbClr val="FFFF00"/>
                </a:highlight>
              </a:rPr>
              <a:t>MULTIMODAL CRICKET VIDEO SEGMENTATION AND RETRIEVAL BY PLAYER IDENTITY AND EVENT TYPE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3CFF28C-61DB-E5F4-C4E5-613D7ECDE26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68867" y="1315640"/>
            <a:ext cx="11506200" cy="792162"/>
          </a:xfrm>
        </p:spPr>
        <p:txBody>
          <a:bodyPr>
            <a:noAutofit/>
          </a:bodyPr>
          <a:lstStyle/>
          <a:p>
            <a:r>
              <a:rPr lang="en-US" u="sng" dirty="0"/>
              <a:t>High level Architecture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BEEF12-5A2B-E2A2-E771-25C32C3BD15B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IT22141606</a:t>
            </a:r>
            <a:r>
              <a:rPr lang="en-US" sz="1800" dirty="0">
                <a:solidFill>
                  <a:schemeClr val="tx1"/>
                </a:solidFill>
              </a:rPr>
              <a:t>   |   RATHNAYAKE R.M.N.D  |   </a:t>
            </a:r>
            <a:r>
              <a:rPr lang="en-US" sz="1800" b="0" dirty="0">
                <a:solidFill>
                  <a:schemeClr val="tx1"/>
                </a:solidFill>
              </a:rPr>
              <a:t>25-26J-148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B0FEFB-7849-0410-2017-E8564603F7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611" y="1978020"/>
            <a:ext cx="9162778" cy="4514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353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CF683-047A-114F-7F4E-7650A1F8E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7D7916C-3357-85BB-3500-0812F55EF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" y="509853"/>
            <a:ext cx="11684000" cy="792162"/>
          </a:xfrm>
        </p:spPr>
        <p:txBody>
          <a:bodyPr>
            <a:noAutofit/>
          </a:bodyPr>
          <a:lstStyle/>
          <a:p>
            <a:r>
              <a:rPr lang="en-US" sz="3200" dirty="0">
                <a:highlight>
                  <a:srgbClr val="FFFF00"/>
                </a:highlight>
              </a:rPr>
              <a:t>MULTIMODAL CRICKET VIDEO SEGMENTATION AND RETRIEVAL BY PLAYER IDENTITY AND EVENT TYPE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945090A-551F-78F1-F907-637B502E4A9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71500" y="1447800"/>
            <a:ext cx="11620500" cy="4800600"/>
          </a:xfrm>
        </p:spPr>
        <p:txBody>
          <a:bodyPr>
            <a:noAutofit/>
          </a:bodyPr>
          <a:lstStyle/>
          <a:p>
            <a:r>
              <a:rPr lang="en-US" u="sng" dirty="0">
                <a:latin typeface="Cambria (Body)"/>
              </a:rPr>
              <a:t>Overall System Workflow</a:t>
            </a:r>
          </a:p>
          <a:p>
            <a:pPr marL="0" indent="0">
              <a:spcAft>
                <a:spcPts val="800"/>
              </a:spcAft>
              <a:buNone/>
              <a:defRPr sz="2100">
                <a:solidFill>
                  <a:srgbClr val="000000"/>
                </a:solidFill>
                <a:latin typeface="Times New Roman"/>
              </a:defRPr>
            </a:pPr>
            <a:r>
              <a:rPr lang="en-US" sz="2200" dirty="0">
                <a:latin typeface="Cambria (Body)"/>
              </a:rPr>
              <a:t>1. User uploads match video with team/player details or extracts players from a lineup image.</a:t>
            </a:r>
          </a:p>
          <a:p>
            <a:pPr marL="0" indent="0">
              <a:spcAft>
                <a:spcPts val="800"/>
              </a:spcAft>
              <a:buNone/>
              <a:defRPr sz="2100">
                <a:solidFill>
                  <a:srgbClr val="000000"/>
                </a:solidFill>
                <a:latin typeface="Times New Roman"/>
              </a:defRPr>
            </a:pPr>
            <a:r>
              <a:rPr lang="en-US" sz="2200" dirty="0">
                <a:latin typeface="Cambria (Body)"/>
              </a:rPr>
              <a:t>2. Backend samples video frames and extracts scoreboard text using EasyOCR.</a:t>
            </a:r>
          </a:p>
          <a:p>
            <a:pPr marL="0" indent="0">
              <a:spcAft>
                <a:spcPts val="800"/>
              </a:spcAft>
              <a:buNone/>
              <a:defRPr sz="2100">
                <a:solidFill>
                  <a:srgbClr val="000000"/>
                </a:solidFill>
                <a:latin typeface="Times New Roman"/>
              </a:defRPr>
            </a:pPr>
            <a:r>
              <a:rPr lang="en-US" sz="2200" dirty="0">
                <a:latin typeface="Cambria (Body)"/>
              </a:rPr>
              <a:t>3. Player names are cleaned, matched with roster data, and assigned as batsman 1, batsman 2, and bowler.</a:t>
            </a:r>
          </a:p>
          <a:p>
            <a:pPr marL="0" indent="0">
              <a:spcAft>
                <a:spcPts val="800"/>
              </a:spcAft>
              <a:buNone/>
              <a:defRPr sz="2100">
                <a:solidFill>
                  <a:srgbClr val="000000"/>
                </a:solidFill>
                <a:latin typeface="Times New Roman"/>
              </a:defRPr>
            </a:pPr>
            <a:r>
              <a:rPr lang="en-US" sz="2200" dirty="0">
                <a:latin typeface="Cambria (Body)"/>
              </a:rPr>
              <a:t>4. Umpire detection and pose classification identify FOUR, SIX, WICKET, and NO-ACTION moments.</a:t>
            </a:r>
          </a:p>
          <a:p>
            <a:pPr marL="0" indent="0">
              <a:spcAft>
                <a:spcPts val="800"/>
              </a:spcAft>
              <a:buNone/>
              <a:defRPr sz="2100">
                <a:solidFill>
                  <a:srgbClr val="000000"/>
                </a:solidFill>
                <a:latin typeface="Times New Roman"/>
              </a:defRPr>
            </a:pPr>
            <a:r>
              <a:rPr lang="en-US" sz="2200" dirty="0">
                <a:latin typeface="Cambria (Body)"/>
              </a:rPr>
              <a:t>5. Events are synchronized with nearest scoreboard frames to build player-event records.</a:t>
            </a:r>
          </a:p>
          <a:p>
            <a:pPr marL="0" indent="0">
              <a:spcAft>
                <a:spcPts val="800"/>
              </a:spcAft>
              <a:buNone/>
              <a:defRPr sz="2100">
                <a:solidFill>
                  <a:srgbClr val="000000"/>
                </a:solidFill>
                <a:latin typeface="Times New Roman"/>
              </a:defRPr>
            </a:pPr>
            <a:r>
              <a:rPr lang="en-US" sz="2200" dirty="0">
                <a:latin typeface="Cambria (Body)"/>
              </a:rPr>
              <a:t>6. Dashboard displays timeline, player search, wicket attribution, transcript, and video jump links.</a:t>
            </a:r>
          </a:p>
          <a:p>
            <a:pPr marL="0" indent="0">
              <a:spcAft>
                <a:spcPts val="800"/>
              </a:spcAft>
              <a:buNone/>
              <a:defRPr sz="2100">
                <a:solidFill>
                  <a:srgbClr val="000000"/>
                </a:solidFill>
                <a:latin typeface="Times New Roman"/>
              </a:defRPr>
            </a:pPr>
            <a:endParaRPr lang="en-US" sz="2400" dirty="0">
              <a:latin typeface="Cambria (Body)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BBDE0D-2EE9-359D-05D6-34C785155E20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IT22141606</a:t>
            </a:r>
            <a:r>
              <a:rPr lang="en-US" sz="1800" dirty="0">
                <a:solidFill>
                  <a:schemeClr val="tx1"/>
                </a:solidFill>
              </a:rPr>
              <a:t>   |   RATHNAYAKE R.M.N.D  |   </a:t>
            </a:r>
            <a:r>
              <a:rPr lang="en-US" sz="1800" b="0" dirty="0">
                <a:solidFill>
                  <a:schemeClr val="tx1"/>
                </a:solidFill>
              </a:rPr>
              <a:t>25-26J-148</a:t>
            </a:r>
          </a:p>
        </p:txBody>
      </p:sp>
    </p:spTree>
    <p:extLst>
      <p:ext uri="{BB962C8B-B14F-4D97-AF65-F5344CB8AC3E}">
        <p14:creationId xmlns:p14="http://schemas.microsoft.com/office/powerpoint/2010/main" val="1888894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C6D00-4CB8-9AE0-7EE2-B041502DA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90A12CD-D711-4E41-011F-A26990AC6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" y="509853"/>
            <a:ext cx="11684000" cy="792162"/>
          </a:xfrm>
        </p:spPr>
        <p:txBody>
          <a:bodyPr>
            <a:noAutofit/>
          </a:bodyPr>
          <a:lstStyle/>
          <a:p>
            <a:r>
              <a:rPr lang="en-US" sz="3200" dirty="0">
                <a:highlight>
                  <a:srgbClr val="FFFF00"/>
                </a:highlight>
              </a:rPr>
              <a:t>MULTIMODAL CRICKET VIDEO SEGMENTATION AND RETRIEVAL BY PLAYER IDENTITY AND EVENT TYPE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D893D37-DBB4-1BCC-6EE3-347819B0E8DC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75115" y="1398057"/>
            <a:ext cx="11620500" cy="1447800"/>
          </a:xfrm>
        </p:spPr>
        <p:txBody>
          <a:bodyPr>
            <a:noAutofit/>
          </a:bodyPr>
          <a:lstStyle/>
          <a:p>
            <a:r>
              <a:rPr lang="en-US" u="sng" dirty="0">
                <a:latin typeface="Cambria (Body)"/>
              </a:rPr>
              <a:t>Models and Evaluation Matrices</a:t>
            </a:r>
          </a:p>
          <a:p>
            <a:pPr marL="457200" indent="-457200">
              <a:spcAft>
                <a:spcPts val="800"/>
              </a:spcAft>
              <a:buAutoNum type="arabicPeriod"/>
              <a:defRPr sz="2100">
                <a:solidFill>
                  <a:srgbClr val="000000"/>
                </a:solidFill>
                <a:latin typeface="Times New Roman"/>
              </a:defRPr>
            </a:pPr>
            <a:r>
              <a:rPr lang="en-US" sz="2400" dirty="0"/>
              <a:t>EfficientNet-B0 </a:t>
            </a:r>
            <a:r>
              <a:rPr lang="en-US" sz="2400" dirty="0">
                <a:sym typeface="Wingdings" panose="05000000000000000000" pitchFamily="2" charset="2"/>
              </a:rPr>
              <a:t></a:t>
            </a:r>
            <a:r>
              <a:rPr lang="en-US" sz="2400" dirty="0"/>
              <a:t>for umpire detection</a:t>
            </a:r>
          </a:p>
          <a:p>
            <a:pPr marL="0" indent="0">
              <a:spcAft>
                <a:spcPts val="800"/>
              </a:spcAft>
              <a:buNone/>
              <a:defRPr sz="2100">
                <a:solidFill>
                  <a:srgbClr val="000000"/>
                </a:solidFill>
                <a:latin typeface="Times New Roman"/>
              </a:defRPr>
            </a:pPr>
            <a:endParaRPr lang="en-US" sz="2400" dirty="0">
              <a:latin typeface="Cambria (Body)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D65FBF-1B77-57B3-0645-7B1EE21A26C2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IT22141606</a:t>
            </a:r>
            <a:r>
              <a:rPr lang="en-US" sz="1800" dirty="0">
                <a:solidFill>
                  <a:schemeClr val="tx1"/>
                </a:solidFill>
              </a:rPr>
              <a:t>   |   RATHNAYAKE R.M.N.D  |   </a:t>
            </a:r>
            <a:r>
              <a:rPr lang="en-US" sz="1800" b="0" dirty="0">
                <a:solidFill>
                  <a:schemeClr val="tx1"/>
                </a:solidFill>
              </a:rPr>
              <a:t>25-26J-148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027BE3-55BF-CD93-FBED-DE33421809C1}"/>
              </a:ext>
            </a:extLst>
          </p:cNvPr>
          <p:cNvSpPr txBox="1"/>
          <p:nvPr/>
        </p:nvSpPr>
        <p:spPr>
          <a:xfrm>
            <a:off x="76200" y="351123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000000"/>
                </a:solidFill>
                <a:latin typeface="Times New Roman"/>
              </a:defRPr>
            </a:pPr>
            <a:r>
              <a:rPr lang="en-US" sz="2400" dirty="0"/>
              <a:t>2. ResNet-18 </a:t>
            </a:r>
            <a:r>
              <a:rPr lang="en-US" sz="2400" dirty="0">
                <a:sym typeface="Wingdings" panose="05000000000000000000" pitchFamily="2" charset="2"/>
              </a:rPr>
              <a:t></a:t>
            </a:r>
            <a:r>
              <a:rPr lang="en-US" sz="2400" dirty="0"/>
              <a:t>for umpire pose classification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6B7F8E-C14A-E1DD-C67D-FD5269E6386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9647" y="1376702"/>
            <a:ext cx="2558073" cy="21596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EDC4DB8-91C3-1FB1-B864-DD497DEBDFE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0635" y="2070402"/>
            <a:ext cx="3376293" cy="12732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7AABD86-EF4B-4356-0BDA-937E183C4377}"/>
              </a:ext>
            </a:extLst>
          </p:cNvPr>
          <p:cNvSpPr txBox="1"/>
          <p:nvPr/>
        </p:nvSpPr>
        <p:spPr>
          <a:xfrm>
            <a:off x="5985365" y="3515121"/>
            <a:ext cx="63990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000000"/>
                </a:solidFill>
                <a:latin typeface="Times New Roman"/>
              </a:defRPr>
            </a:pPr>
            <a:r>
              <a:rPr lang="en-US" sz="2400" dirty="0"/>
              <a:t>3.OCR </a:t>
            </a:r>
            <a:r>
              <a:rPr lang="en-US" sz="2400" dirty="0">
                <a:sym typeface="Wingdings" panose="05000000000000000000" pitchFamily="2" charset="2"/>
              </a:rPr>
              <a:t></a:t>
            </a:r>
            <a:r>
              <a:rPr lang="en-US" sz="2400" dirty="0"/>
              <a:t>for Player name extraction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54C6312-62F7-278C-4AE1-BAC5498BD75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0232" y="4064595"/>
            <a:ext cx="2710403" cy="203280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A3CEEE4-FF65-1A50-B245-DD897773F05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868" y="4292219"/>
            <a:ext cx="2819400" cy="14097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51D2F49-E946-FEF3-DEB3-F688D5F907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5664" y="4037843"/>
            <a:ext cx="2667000" cy="186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3226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6F8E4-8BAA-AAAC-1ADB-7FB6F7C24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918D395D-E55C-15C1-3BA1-488BA10EE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66800"/>
            <a:ext cx="10363200" cy="4038600"/>
          </a:xfrm>
        </p:spPr>
        <p:txBody>
          <a:bodyPr>
            <a:normAutofit/>
          </a:bodyPr>
          <a:lstStyle/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 dirty="0"/>
              <a:t>Feedback from Users /User Acceptance Test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6945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othecary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100000"/>
              </a:schemeClr>
            </a:gs>
            <a:gs pos="68000">
              <a:schemeClr val="phClr">
                <a:tint val="77000"/>
                <a:satMod val="100000"/>
              </a:schemeClr>
            </a:gs>
            <a:gs pos="81000">
              <a:schemeClr val="phClr">
                <a:tint val="79000"/>
                <a:satMod val="100000"/>
              </a:schemeClr>
            </a:gs>
            <a:gs pos="86000">
              <a:schemeClr val="phClr">
                <a:tint val="73000"/>
                <a:satMod val="100000"/>
              </a:schemeClr>
            </a:gs>
            <a:gs pos="100000">
              <a:schemeClr val="phClr">
                <a:tint val="35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3000"/>
                <a:shade val="100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tint val="100000"/>
                <a:shade val="57000"/>
                <a:satMod val="120000"/>
              </a:schemeClr>
            </a:gs>
            <a:gs pos="80000">
              <a:schemeClr val="phClr">
                <a:tint val="100000"/>
                <a:shade val="56000"/>
                <a:satMod val="145000"/>
              </a:schemeClr>
            </a:gs>
            <a:gs pos="88000">
              <a:schemeClr val="phClr">
                <a:tint val="100000"/>
                <a:shade val="63000"/>
                <a:satMod val="160000"/>
              </a:schemeClr>
            </a:gs>
            <a:gs pos="100000">
              <a:schemeClr val="phClr">
                <a:tint val="99000"/>
                <a:shade val="100000"/>
                <a:satMod val="155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glow" dir="tl">
              <a:rot lat="0" lon="0" rev="1800000"/>
            </a:lightRig>
          </a:scene3d>
          <a:sp3d contourW="10160" prstMaterial="dkEdge">
            <a:bevelT w="0" h="0" prst="angle"/>
            <a:contourClr>
              <a:schemeClr val="phClr">
                <a:shade val="30000"/>
                <a:satMod val="150000"/>
              </a:schemeClr>
            </a:contourClr>
          </a:sp3d>
        </a:effectStyle>
        <a:effectStyle>
          <a:effectLst>
            <a:glow rad="50800">
              <a:schemeClr val="phClr">
                <a:tint val="68000"/>
                <a:shade val="93000"/>
                <a:alpha val="37000"/>
                <a:satMod val="25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1800000"/>
            </a:lightRig>
          </a:scene3d>
          <a:sp3d contourW="10160" prstMaterial="dkEdge">
            <a:bevelT w="20320" h="19050" prst="angle"/>
            <a:contourClr>
              <a:schemeClr val="phClr">
                <a:shade val="3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D08376A6-FCE2-4A8E-BFFF-11B69BD93976}" vid="{0A5F165D-9E14-4628-BA29-A51D7051FDC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10BED47397629468ECCA40A9BFD2360" ma:contentTypeVersion="32" ma:contentTypeDescription="Create a new document." ma:contentTypeScope="" ma:versionID="8018176eb00ec7aee09f0e7e93d2feae">
  <xsd:schema xmlns:xsd="http://www.w3.org/2001/XMLSchema" xmlns:xs="http://www.w3.org/2001/XMLSchema" xmlns:p="http://schemas.microsoft.com/office/2006/metadata/properties" xmlns:ns3="7052f7b4-6618-4fd5-8c2b-195a2e438ea3" xmlns:ns4="d73754a2-87ab-421f-a273-25d43a392330" targetNamespace="http://schemas.microsoft.com/office/2006/metadata/properties" ma:root="true" ma:fieldsID="e50bf4c58197e20629937f9ece67a00f" ns3:_="" ns4:_="">
    <xsd:import namespace="7052f7b4-6618-4fd5-8c2b-195a2e438ea3"/>
    <xsd:import namespace="d73754a2-87ab-421f-a273-25d43a392330"/>
    <xsd:element name="properties">
      <xsd:complexType>
        <xsd:sequence>
          <xsd:element name="documentManagement">
            <xsd:complexType>
              <xsd:all>
                <xsd:element ref="ns3:NotebookType" minOccurs="0"/>
                <xsd:element ref="ns3:FolderType" minOccurs="0"/>
                <xsd:element ref="ns3:Owner" minOccurs="0"/>
                <xsd:element ref="ns3:DefaultSectionNames" minOccurs="0"/>
                <xsd:element ref="ns3:Templates" minOccurs="0"/>
                <xsd:element ref="ns3:CultureName" minOccurs="0"/>
                <xsd:element ref="ns3:AppVersion" minOccurs="0"/>
                <xsd:element ref="ns3:Teachers" minOccurs="0"/>
                <xsd:element ref="ns3:Students" minOccurs="0"/>
                <xsd:element ref="ns3:Student_Groups" minOccurs="0"/>
                <xsd:element ref="ns3:Invited_Teachers" minOccurs="0"/>
                <xsd:element ref="ns3:Invited_Students" minOccurs="0"/>
                <xsd:element ref="ns3:Self_Registration_Enabled" minOccurs="0"/>
                <xsd:element ref="ns3:Has_Teacher_Only_SectionGroup" minOccurs="0"/>
                <xsd:element ref="ns3:Is_Collaboration_Space_Locked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LengthInSecond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  <xsd:element ref="ns3:MediaServiceBillingMetadata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52f7b4-6618-4fd5-8c2b-195a2e438ea3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Owner" ma:index="10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efaultSectionNames" ma:index="11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2" nillable="true" ma:displayName="Templates" ma:internalName="Templates">
      <xsd:simpleType>
        <xsd:restriction base="dms:Note">
          <xsd:maxLength value="255"/>
        </xsd:restriction>
      </xsd:simpleType>
    </xsd:element>
    <xsd:element name="CultureName" ma:index="13" nillable="true" ma:displayName="Culture Name" ma:internalName="CultureName">
      <xsd:simpleType>
        <xsd:restriction base="dms:Text"/>
      </xsd:simpleType>
    </xsd:element>
    <xsd:element name="AppVersion" ma:index="14" nillable="true" ma:displayName="App Version" ma:internalName="AppVersion">
      <xsd:simpleType>
        <xsd:restriction base="dms:Text"/>
      </xsd:simpleType>
    </xsd:element>
    <xsd:element name="Teachers" ma:index="15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6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7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Invited_Teachers" ma:index="18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19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0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1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2" nillable="true" ma:displayName="Is Collaboration Space Locked" ma:internalName="Is_Collaboration_Space_Locked">
      <xsd:simpleType>
        <xsd:restriction base="dms:Boolean"/>
      </xsd:simpleType>
    </xsd:element>
    <xsd:element name="MediaServiceMetadata" ma:index="26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7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2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9" nillable="true" ma:displayName="Length (seconds)" ma:internalName="MediaLengthInSeconds" ma:readOnly="true">
      <xsd:simpleType>
        <xsd:restriction base="dms:Unknown"/>
      </xsd:simpleType>
    </xsd:element>
    <xsd:element name="MediaServiceAutoTags" ma:index="30" nillable="true" ma:displayName="Tags" ma:internalName="MediaServiceAutoTags" ma:readOnly="true">
      <xsd:simpleType>
        <xsd:restriction base="dms:Text"/>
      </xsd:simpleType>
    </xsd:element>
    <xsd:element name="MediaServiceOCR" ma:index="3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3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3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34" nillable="true" ma:displayName="_activity" ma:hidden="true" ma:internalName="_activity">
      <xsd:simpleType>
        <xsd:restriction base="dms:Note"/>
      </xsd:simpleType>
    </xsd:element>
    <xsd:element name="MediaServiceObjectDetectorVersions" ma:index="3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36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3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38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39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73754a2-87ab-421f-a273-25d43a392330" elementFormDefault="qualified">
    <xsd:import namespace="http://schemas.microsoft.com/office/2006/documentManagement/types"/>
    <xsd:import namespace="http://schemas.microsoft.com/office/infopath/2007/PartnerControls"/>
    <xsd:element name="SharedWithUsers" ma:index="23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4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5" nillable="true" ma:displayName="Sharing Hint Hash" ma:description="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eachers xmlns="7052f7b4-6618-4fd5-8c2b-195a2e438ea3">
      <UserInfo>
        <DisplayName/>
        <AccountId xsi:nil="true"/>
        <AccountType/>
      </UserInfo>
    </Teachers>
    <Templates xmlns="7052f7b4-6618-4fd5-8c2b-195a2e438ea3" xsi:nil="true"/>
    <Invited_Teachers xmlns="7052f7b4-6618-4fd5-8c2b-195a2e438ea3" xsi:nil="true"/>
    <CultureName xmlns="7052f7b4-6618-4fd5-8c2b-195a2e438ea3" xsi:nil="true"/>
    <Student_Groups xmlns="7052f7b4-6618-4fd5-8c2b-195a2e438ea3">
      <UserInfo>
        <DisplayName/>
        <AccountId xsi:nil="true"/>
        <AccountType/>
      </UserInfo>
    </Student_Groups>
    <Self_Registration_Enabled xmlns="7052f7b4-6618-4fd5-8c2b-195a2e438ea3" xsi:nil="true"/>
    <AppVersion xmlns="7052f7b4-6618-4fd5-8c2b-195a2e438ea3" xsi:nil="true"/>
    <NotebookType xmlns="7052f7b4-6618-4fd5-8c2b-195a2e438ea3" xsi:nil="true"/>
    <DefaultSectionNames xmlns="7052f7b4-6618-4fd5-8c2b-195a2e438ea3" xsi:nil="true"/>
    <FolderType xmlns="7052f7b4-6618-4fd5-8c2b-195a2e438ea3" xsi:nil="true"/>
    <Owner xmlns="7052f7b4-6618-4fd5-8c2b-195a2e438ea3">
      <UserInfo>
        <DisplayName/>
        <AccountId xsi:nil="true"/>
        <AccountType/>
      </UserInfo>
    </Owner>
    <Students xmlns="7052f7b4-6618-4fd5-8c2b-195a2e438ea3">
      <UserInfo>
        <DisplayName/>
        <AccountId xsi:nil="true"/>
        <AccountType/>
      </UserInfo>
    </Students>
    <Has_Teacher_Only_SectionGroup xmlns="7052f7b4-6618-4fd5-8c2b-195a2e438ea3" xsi:nil="true"/>
    <Is_Collaboration_Space_Locked xmlns="7052f7b4-6618-4fd5-8c2b-195a2e438ea3" xsi:nil="true"/>
    <_activity xmlns="7052f7b4-6618-4fd5-8c2b-195a2e438ea3" xsi:nil="true"/>
    <Invited_Students xmlns="7052f7b4-6618-4fd5-8c2b-195a2e438ea3" xsi:nil="true"/>
  </documentManagement>
</p:properties>
</file>

<file path=customXml/itemProps1.xml><?xml version="1.0" encoding="utf-8"?>
<ds:datastoreItem xmlns:ds="http://schemas.openxmlformats.org/officeDocument/2006/customXml" ds:itemID="{C74AE322-1B87-44EB-913F-C76F41A3CAA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052f7b4-6618-4fd5-8c2b-195a2e438ea3"/>
    <ds:schemaRef ds:uri="d73754a2-87ab-421f-a273-25d43a39233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524EB50-756A-4B4D-A538-B8A80096A11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DE179EA-5802-4847-97C7-5D18D23DA49F}">
  <ds:schemaRefs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  <ds:schemaRef ds:uri="7052f7b4-6618-4fd5-8c2b-195a2e438ea3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d73754a2-87ab-421f-a273-25d43a392330"/>
  </ds:schemaRefs>
</ds:datastoreItem>
</file>

<file path=docMetadata/LabelInfo.xml><?xml version="1.0" encoding="utf-8"?>
<clbl:labelList xmlns:clbl="http://schemas.microsoft.com/office/2020/mipLabelMetadata">
  <clbl:label id="{1337832b-e06e-4e87-85f5-ecfde68f9c8e}" enabled="1" method="Standard" siteId="{44e3cf94-19c9-4e32-96c3-14f5bf01391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Proposal prsentation stuct (1)</Template>
  <TotalTime>8680</TotalTime>
  <Words>463</Words>
  <Application>Microsoft Office PowerPoint</Application>
  <PresentationFormat>Widescreen</PresentationFormat>
  <Paragraphs>42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Adobe Devanagari</vt:lpstr>
      <vt:lpstr>Arial</vt:lpstr>
      <vt:lpstr>Calibri</vt:lpstr>
      <vt:lpstr>Cambria</vt:lpstr>
      <vt:lpstr>Cambria (Body)</vt:lpstr>
      <vt:lpstr>Times New Roman</vt:lpstr>
      <vt:lpstr>Wingdings</vt:lpstr>
      <vt:lpstr>Office Theme</vt:lpstr>
      <vt:lpstr> CRICVISION-MULTIMODAL CRICKET VIDEO SEGMENTATION AND RETRIEVAL BY PLAYER IDENTITY AND EVENT TYPE</vt:lpstr>
      <vt:lpstr>IT22141606  |  RATHNAYAKE R.M.N.D</vt:lpstr>
      <vt:lpstr>MULTIMODAL CRICKET VIDEO SEGMENTATION AND RETRIEVAL BY PLAYER IDENTITY AND EVENT TYPE</vt:lpstr>
      <vt:lpstr>MULTIMODAL CRICKET VIDEO SEGMENTATION AND RETRIEVAL BY PLAYER IDENTITY AND EVENT TYPE</vt:lpstr>
      <vt:lpstr>MULTIMODAL CRICKET VIDEO SEGMENTATION AND RETRIEVAL BY PLAYER IDENTITY AND EVENT TYPE</vt:lpstr>
      <vt:lpstr>MULTIMODAL CRICKET VIDEO SEGMENTATION AND RETRIEVAL BY PLAYER IDENTITY AND EVENT TYPE</vt:lpstr>
      <vt:lpstr>MULTIMODAL CRICKET VIDEO SEGMENTATION AND RETRIEVAL BY PLAYER IDENTITY AND EVENT TYPE</vt:lpstr>
      <vt:lpstr>Feedback from Users /User Acceptance Test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Koliya Pulasinghe</dc:creator>
  <cp:lastModifiedBy>Dimalsha Rathnayake</cp:lastModifiedBy>
  <cp:revision>9</cp:revision>
  <dcterms:created xsi:type="dcterms:W3CDTF">2025-08-25T09:34:25Z</dcterms:created>
  <dcterms:modified xsi:type="dcterms:W3CDTF">2026-05-03T20:20:10Z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0x010100010BED47397629468ECCA40A9BFD2360</vt:lpwstr>
  </property>
</Properties>
</file>