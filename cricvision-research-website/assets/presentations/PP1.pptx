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95" r:id="rId2"/>
    <p:sldId id="264" r:id="rId3"/>
    <p:sldId id="302" r:id="rId4"/>
    <p:sldId id="303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DC65E8-F1D3-47C7-8FF1-7396B5E004C5}" v="6" dt="2025-12-01T10:36:37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4/24/2026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F014-595B-83F1-44E7-60F561FD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EEE3D2-5D0F-2E2D-BB44-AD53536E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"/>
            <a:ext cx="12192000" cy="792162"/>
          </a:xfrm>
        </p:spPr>
        <p:txBody>
          <a:bodyPr>
            <a:noAutofit/>
          </a:bodyPr>
          <a:lstStyle/>
          <a:p>
            <a:r>
              <a:rPr lang="en-US" sz="2200" dirty="0">
                <a:highlight>
                  <a:srgbClr val="FFFF00"/>
                </a:highlight>
              </a:rPr>
              <a:t>PLAYER BASED SEGMENTATION AND WICKET EVENT RELATED VIDEO ANALYSIS IN CRICKET VIDEOS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280392-BA3A-250B-0227-F6BB07BCC9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777081"/>
            <a:ext cx="6400800" cy="518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Problems</a:t>
            </a:r>
            <a:r>
              <a:rPr lang="en-US" sz="2000" dirty="0"/>
              <a:t>:                                                                                                                                                                 </a:t>
            </a:r>
          </a:p>
          <a:p>
            <a:r>
              <a:rPr lang="en-US" sz="1400" dirty="0"/>
              <a:t>Can’t filter full matches by player name</a:t>
            </a:r>
          </a:p>
          <a:p>
            <a:r>
              <a:rPr lang="en-US" sz="1400" dirty="0"/>
              <a:t>No auto navigation to jump to moments by player name</a:t>
            </a:r>
          </a:p>
          <a:p>
            <a:r>
              <a:rPr lang="en-US" sz="1400" dirty="0"/>
              <a:t>No auto navigation to jump to important moments</a:t>
            </a:r>
          </a:p>
          <a:p>
            <a:r>
              <a:rPr lang="en-US" sz="1400" dirty="0"/>
              <a:t>Players are not linked to key events (FOUR/SIX/WICKET) with timestamps</a:t>
            </a:r>
          </a:p>
          <a:p>
            <a:r>
              <a:rPr lang="en-US" sz="1400" dirty="0"/>
              <a:t>Users must manually scroll through long videos</a:t>
            </a:r>
          </a:p>
          <a:p>
            <a:r>
              <a:rPr lang="en-US" sz="1400" dirty="0"/>
              <a:t>Making player/event highlights is manual and time-consuming</a:t>
            </a:r>
          </a:p>
          <a:p>
            <a:r>
              <a:rPr lang="en-US" sz="1400" dirty="0"/>
              <a:t>Cannot easily track batsman changes (new batsman came in)</a:t>
            </a:r>
          </a:p>
          <a:p>
            <a:r>
              <a:rPr lang="en-US" sz="1400" dirty="0"/>
              <a:t>Cannot easily track bowler changes (new over / new bowler)</a:t>
            </a:r>
          </a:p>
          <a:p>
            <a:r>
              <a:rPr lang="en-US" sz="1400" dirty="0"/>
              <a:t>No automatic player-based and event-based analysis timeline</a:t>
            </a:r>
          </a:p>
          <a:p>
            <a:r>
              <a:rPr lang="en-US" sz="1400" dirty="0"/>
              <a:t>Near-miss events (dropped catches, run-out chances) are rarely captured in traditional highlight generation</a:t>
            </a:r>
          </a:p>
          <a:p>
            <a:r>
              <a:rPr lang="en-US" sz="1400" dirty="0"/>
              <a:t>Manual identification of wickets and near misses in long videos is inefficient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b="1" dirty="0"/>
              <a:t>Affected Parties:</a:t>
            </a:r>
          </a:p>
          <a:p>
            <a:r>
              <a:rPr lang="en-US" sz="1400" dirty="0"/>
              <a:t>Cricket fans and viewers</a:t>
            </a:r>
          </a:p>
          <a:p>
            <a:r>
              <a:rPr lang="en-US" sz="1400" dirty="0"/>
              <a:t>Coaches and team analysts</a:t>
            </a:r>
          </a:p>
          <a:p>
            <a:r>
              <a:rPr lang="en-US" sz="1400" dirty="0"/>
              <a:t>Broadcasters and content creators/editors</a:t>
            </a:r>
          </a:p>
          <a:p>
            <a:r>
              <a:rPr lang="en-US" sz="1400" dirty="0"/>
              <a:t>Cricket academies and training staff</a:t>
            </a:r>
          </a:p>
          <a:p>
            <a:r>
              <a:rPr lang="en-US" sz="1400" dirty="0"/>
              <a:t>School-level cricket players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C045D9F-7761-6F08-FEBB-A0247446EA6D}"/>
              </a:ext>
            </a:extLst>
          </p:cNvPr>
          <p:cNvSpPr txBox="1">
            <a:spLocks/>
          </p:cNvSpPr>
          <p:nvPr/>
        </p:nvSpPr>
        <p:spPr>
          <a:xfrm>
            <a:off x="7048500" y="838200"/>
            <a:ext cx="4876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b="1" dirty="0"/>
              <a:t>Impact</a:t>
            </a:r>
            <a:r>
              <a:rPr lang="en-US" sz="2000" dirty="0"/>
              <a:t>:</a:t>
            </a:r>
          </a:p>
          <a:p>
            <a:r>
              <a:rPr lang="en-US" sz="1400" dirty="0"/>
              <a:t>manual searching in long videos wastes time </a:t>
            </a:r>
          </a:p>
          <a:p>
            <a:r>
              <a:rPr lang="en-US" sz="1400" dirty="0"/>
              <a:t>Fans miss key player moments </a:t>
            </a:r>
          </a:p>
          <a:p>
            <a:r>
              <a:rPr lang="en-US" sz="1400" dirty="0"/>
              <a:t>no quick navigation</a:t>
            </a:r>
          </a:p>
          <a:p>
            <a:r>
              <a:rPr lang="en-US" sz="1400" dirty="0"/>
              <a:t>Coaches/analysts can’t quickly collect player-wise clips </a:t>
            </a:r>
          </a:p>
          <a:p>
            <a:r>
              <a:rPr lang="en-US" sz="1400" dirty="0"/>
              <a:t>slow performance review</a:t>
            </a:r>
          </a:p>
          <a:p>
            <a:r>
              <a:rPr lang="en-US" sz="1400" dirty="0"/>
              <a:t>Content creators/broadcasters spend extra time (manual highlight editing)</a:t>
            </a:r>
          </a:p>
          <a:p>
            <a:r>
              <a:rPr lang="en-US" sz="1400" dirty="0"/>
              <a:t>Hard to reuse match footage efficiently (training/reports/summaries)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b="1" dirty="0"/>
              <a:t>Design excellence of the overall solution</a:t>
            </a:r>
          </a:p>
          <a:p>
            <a:r>
              <a:rPr lang="en-US" sz="1400" dirty="0"/>
              <a:t>Automatically extracts scoreboard and player information</a:t>
            </a:r>
          </a:p>
          <a:p>
            <a:r>
              <a:rPr lang="en-US" sz="1400" dirty="0"/>
              <a:t>Detects key events accurately and consistently</a:t>
            </a:r>
          </a:p>
          <a:p>
            <a:r>
              <a:rPr lang="en-US" sz="1400" dirty="0"/>
              <a:t>Links players with key events using correct timestamps</a:t>
            </a:r>
          </a:p>
          <a:p>
            <a:r>
              <a:rPr lang="en-US" sz="1400" dirty="0"/>
              <a:t>Provides auto navigation (jump to the exact moment)</a:t>
            </a:r>
          </a:p>
          <a:p>
            <a:r>
              <a:rPr lang="en-US" sz="1400" dirty="0"/>
              <a:t>Supports fast search to find moments quickly</a:t>
            </a:r>
          </a:p>
          <a:p>
            <a:r>
              <a:rPr lang="en-US" sz="1400" dirty="0"/>
              <a:t>Scalable modular design for 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51267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IT22141606  | Rathnayake R M N 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Automatic Cricket Video Segmentation by Player Identity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Specialization: Data Science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RATHNAYAKE R M N D </a:t>
            </a:r>
            <a:r>
              <a:rPr lang="en-US" dirty="0">
                <a:solidFill>
                  <a:schemeClr val="tx1"/>
                </a:solidFill>
              </a:rPr>
              <a:t>|  25-26J-148 </a:t>
            </a:r>
            <a:r>
              <a:rPr lang="en-US" dirty="0"/>
              <a:t>6J-148 -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00AA8-54DE-E272-0A32-E9E075F5E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152400"/>
            <a:ext cx="1981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F7723301-C6D1-7371-EA83-0FE494741927}"/>
              </a:ext>
            </a:extLst>
          </p:cNvPr>
          <p:cNvSpPr txBox="1">
            <a:spLocks/>
          </p:cNvSpPr>
          <p:nvPr/>
        </p:nvSpPr>
        <p:spPr>
          <a:xfrm>
            <a:off x="533400" y="857717"/>
            <a:ext cx="10363200" cy="2247107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l"/>
            <a:r>
              <a:rPr lang="en-US" sz="3000" b="1" u="sng" dirty="0">
                <a:latin typeface="+mn-lt"/>
              </a:rPr>
              <a:t>How the solution will address the sub-Problem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Automatically extracts scoreboard text from match videos to understand match context.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Identifies batsmen and bowler names from extracted text to enable player-based tracking.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Detects key match events (FOUR, SIX, WICKET) from umpire signals to ensure reliable event detection.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Links players with detected key events using correct timestamps for accurate indexing.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Enables auto-navigation so users can jump directly to important moments in the video.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Provides semantic search so users can quickly find moments by typing natural language queries.</a:t>
            </a:r>
          </a:p>
          <a:p>
            <a:pPr algn="l"/>
            <a:endParaRPr lang="en-US" sz="2100" b="1" u="sng" dirty="0">
              <a:latin typeface="+mn-lt"/>
            </a:endParaRPr>
          </a:p>
          <a:p>
            <a:endParaRPr lang="en-US" b="1" dirty="0">
              <a:latin typeface="+mn-lt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34D6483-5413-67D7-92D1-BA88CA774BDE}"/>
              </a:ext>
            </a:extLst>
          </p:cNvPr>
          <p:cNvSpPr txBox="1">
            <a:spLocks/>
          </p:cNvSpPr>
          <p:nvPr/>
        </p:nvSpPr>
        <p:spPr>
          <a:xfrm>
            <a:off x="914400" y="3429000"/>
            <a:ext cx="10363200" cy="28193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FE4A5-DEBD-BCE7-3339-17648D54761C}"/>
              </a:ext>
            </a:extLst>
          </p:cNvPr>
          <p:cNvSpPr txBox="1"/>
          <p:nvPr/>
        </p:nvSpPr>
        <p:spPr>
          <a:xfrm>
            <a:off x="533400" y="157052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Automatic Cricket Video Segmentation by Player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9E016E-9DFE-800C-CDBF-A7157D12021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RATHNAYAKE R M N D </a:t>
            </a:r>
            <a:r>
              <a:rPr lang="en-US" dirty="0">
                <a:solidFill>
                  <a:schemeClr val="tx1"/>
                </a:solidFill>
              </a:rPr>
              <a:t>|  25-26J-148 </a:t>
            </a:r>
            <a:r>
              <a:rPr lang="en-US" dirty="0"/>
              <a:t>6J-148 -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37C47-6B46-7CFD-90FE-82855D4E5C5C}"/>
              </a:ext>
            </a:extLst>
          </p:cNvPr>
          <p:cNvSpPr txBox="1"/>
          <p:nvPr/>
        </p:nvSpPr>
        <p:spPr>
          <a:xfrm>
            <a:off x="533400" y="3705419"/>
            <a:ext cx="39673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Cricket Fans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Quickly find moments of a selected 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navigation to highlights without watching full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and jump to exact timestamps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E247F-206C-5E88-4554-8D2D1790BDF8}"/>
              </a:ext>
            </a:extLst>
          </p:cNvPr>
          <p:cNvSpPr txBox="1"/>
          <p:nvPr/>
        </p:nvSpPr>
        <p:spPr>
          <a:xfrm>
            <a:off x="4419600" y="3683654"/>
            <a:ext cx="373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Coaches /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Player-wise video segmentation for performance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clip collection for training and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Accurate linking of players with key events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0107D-A2EC-3814-A83D-1EA4C0E3F6D1}"/>
              </a:ext>
            </a:extLst>
          </p:cNvPr>
          <p:cNvSpPr txBox="1"/>
          <p:nvPr/>
        </p:nvSpPr>
        <p:spPr>
          <a:xfrm>
            <a:off x="8333568" y="3705419"/>
            <a:ext cx="36020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Broadcasters / Content Creators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highlight generation with less manual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retrieval of event-based clips (four/six/wicket)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Organized, timestamped match content for editing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A62088-F511-1AA4-1EA9-36A6427DEF08}"/>
              </a:ext>
            </a:extLst>
          </p:cNvPr>
          <p:cNvSpPr txBox="1"/>
          <p:nvPr/>
        </p:nvSpPr>
        <p:spPr>
          <a:xfrm>
            <a:off x="3124200" y="3091320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User Requirements addressed by the solution</a:t>
            </a:r>
          </a:p>
        </p:txBody>
      </p:sp>
    </p:spTree>
    <p:extLst>
      <p:ext uri="{BB962C8B-B14F-4D97-AF65-F5344CB8AC3E}">
        <p14:creationId xmlns:p14="http://schemas.microsoft.com/office/powerpoint/2010/main" val="312930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E6D086-095E-AD6D-7CEB-BF382C0B7D5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IT22141606</a:t>
            </a:r>
            <a:r>
              <a:rPr lang="en-US" sz="1800" dirty="0">
                <a:solidFill>
                  <a:schemeClr val="tx1"/>
                </a:solidFill>
              </a:rPr>
              <a:t>   | RATHNAYAKE R M N D </a:t>
            </a:r>
            <a:r>
              <a:rPr lang="en-US" dirty="0">
                <a:solidFill>
                  <a:schemeClr val="tx1"/>
                </a:solidFill>
              </a:rPr>
              <a:t>|  25-26J-148 </a:t>
            </a:r>
            <a:r>
              <a:rPr lang="en-US" dirty="0"/>
              <a:t>6J-148 -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CB1DF-1863-17FE-BF5F-7F4123E0A11C}"/>
              </a:ext>
            </a:extLst>
          </p:cNvPr>
          <p:cNvSpPr txBox="1"/>
          <p:nvPr/>
        </p:nvSpPr>
        <p:spPr>
          <a:xfrm>
            <a:off x="533400" y="157052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Automatic Cricket Video Segmentation by Player Identity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AE4F8-72BD-B008-B77D-1E77FCD31FA1}"/>
              </a:ext>
            </a:extLst>
          </p:cNvPr>
          <p:cNvSpPr txBox="1"/>
          <p:nvPr/>
        </p:nvSpPr>
        <p:spPr>
          <a:xfrm>
            <a:off x="367092" y="582818"/>
            <a:ext cx="1144390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Design Excellence / Contribution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Hybrid AI pipeline combining: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Computer Vision models (CNN-based umpire detection</a:t>
            </a:r>
            <a:r>
              <a:rPr lang="en-US" b="1" dirty="0"/>
              <a:t>-EfficientNet-B0+</a:t>
            </a:r>
            <a:r>
              <a:rPr lang="en-US" dirty="0"/>
              <a:t> pose classification-</a:t>
            </a:r>
            <a:r>
              <a:rPr lang="en-US" b="1" dirty="0"/>
              <a:t>ResNet-18</a:t>
            </a:r>
            <a:r>
              <a:rPr lang="en-US" dirty="0"/>
              <a:t>)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OCR for scoreboard text extraction-</a:t>
            </a:r>
            <a:r>
              <a:rPr lang="en-US" b="1" dirty="0" err="1"/>
              <a:t>EasyOCR</a:t>
            </a:r>
            <a:endParaRPr lang="en-US" b="1" dirty="0"/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NLP (NER) for identifying player names from extracted text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dirty="0"/>
              <a:t>Semantic search (embeddings + vector search) for fast retrieval- </a:t>
            </a:r>
            <a:r>
              <a:rPr lang="en-US" b="1" dirty="0" err="1"/>
              <a:t>MiniLM</a:t>
            </a:r>
            <a:r>
              <a:rPr lang="en-US" b="1" dirty="0"/>
              <a:t> embeddings + FAISS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High-precision event detection using umpire-signal based classification (reduces false event detection)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Player-event linking with timestamps enables true player-based filtering + auto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Practical and scalable design usable for real match videos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Modular architecture (OCR, player identification, event detection, transcript, search) allows easy upgrades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C1AD-3C69-8AC1-0FD0-BCCD74327B56}"/>
              </a:ext>
            </a:extLst>
          </p:cNvPr>
          <p:cNvSpPr txBox="1"/>
          <p:nvPr/>
        </p:nvSpPr>
        <p:spPr>
          <a:xfrm>
            <a:off x="355601" y="3434080"/>
            <a:ext cx="51748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User Feedback on Prototype                                                                                                                                  </a:t>
            </a:r>
          </a:p>
          <a:p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found it time-saving for finding key match moments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Player-wise navigation was easy and useful compared to manual searching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 detection helped quickly locate FOUR/SIX/WICKET clips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feature made match review faster and smoother</a:t>
            </a:r>
          </a:p>
          <a:p>
            <a:r>
              <a:rPr lang="en-US" dirty="0"/>
              <a:t>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D6398-27C8-AE97-132A-383641551C49}"/>
              </a:ext>
            </a:extLst>
          </p:cNvPr>
          <p:cNvSpPr txBox="1"/>
          <p:nvPr/>
        </p:nvSpPr>
        <p:spPr>
          <a:xfrm>
            <a:off x="5489809" y="3408680"/>
            <a:ext cx="65599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Suggested Improvements</a:t>
            </a:r>
          </a:p>
          <a:p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a “jump to next event / previous event” button for easy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 more common events like wide, no-ball, free hit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matches by players who scored half century /century and jump to their key moments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 detailed event info: who got out, who took the wicket, and who hit each FOUR/SIX, along with the correct timestamps.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the querying part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18629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6" name="Group 6"/>
          <p:cNvGrpSpPr/>
          <p:nvPr/>
        </p:nvGrpSpPr>
        <p:grpSpPr>
          <a:xfrm>
            <a:off x="9157515" y="0"/>
            <a:ext cx="3028135" cy="3429000"/>
            <a:chOff x="0" y="0"/>
            <a:chExt cx="787019" cy="8912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7019" cy="891204"/>
            </a:xfrm>
            <a:custGeom>
              <a:avLst/>
              <a:gdLst/>
              <a:ahLst/>
              <a:cxnLst/>
              <a:rect l="l" t="t" r="r" b="b"/>
              <a:pathLst>
                <a:path w="787019" h="891204">
                  <a:moveTo>
                    <a:pt x="0" y="0"/>
                  </a:moveTo>
                  <a:lnTo>
                    <a:pt x="787019" y="0"/>
                  </a:lnTo>
                  <a:lnTo>
                    <a:pt x="787019" y="891204"/>
                  </a:lnTo>
                  <a:lnTo>
                    <a:pt x="0" y="891204"/>
                  </a:lnTo>
                  <a:close/>
                </a:path>
              </a:pathLst>
            </a:custGeom>
            <a:blipFill>
              <a:blip r:embed="rId3"/>
              <a:stretch>
                <a:fillRect l="-6754" r="-675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153381" y="6403220"/>
            <a:ext cx="249304" cy="315785"/>
          </a:xfrm>
          <a:custGeom>
            <a:avLst/>
            <a:gdLst/>
            <a:ahLst/>
            <a:cxnLst/>
            <a:rect l="l" t="t" r="r" b="b"/>
            <a:pathLst>
              <a:path w="373956" h="473678">
                <a:moveTo>
                  <a:pt x="0" y="0"/>
                </a:moveTo>
                <a:lnTo>
                  <a:pt x="373956" y="0"/>
                </a:lnTo>
                <a:lnTo>
                  <a:pt x="373956" y="473678"/>
                </a:lnTo>
                <a:lnTo>
                  <a:pt x="0" y="473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09981" b="-35333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9" name="Group 9"/>
          <p:cNvGrpSpPr/>
          <p:nvPr/>
        </p:nvGrpSpPr>
        <p:grpSpPr>
          <a:xfrm>
            <a:off x="414712" y="6403220"/>
            <a:ext cx="1757057" cy="299689"/>
            <a:chOff x="0" y="0"/>
            <a:chExt cx="3514115" cy="599379"/>
          </a:xfrm>
        </p:grpSpPr>
        <p:sp>
          <p:nvSpPr>
            <p:cNvPr id="10" name="Freeform 10"/>
            <p:cNvSpPr/>
            <p:nvPr/>
          </p:nvSpPr>
          <p:spPr>
            <a:xfrm>
              <a:off x="38268" y="0"/>
              <a:ext cx="729773" cy="246860"/>
            </a:xfrm>
            <a:custGeom>
              <a:avLst/>
              <a:gdLst/>
              <a:ahLst/>
              <a:cxnLst/>
              <a:rect l="l" t="t" r="r" b="b"/>
              <a:pathLst>
                <a:path w="729773" h="246860">
                  <a:moveTo>
                    <a:pt x="0" y="0"/>
                  </a:moveTo>
                  <a:lnTo>
                    <a:pt x="729773" y="0"/>
                  </a:lnTo>
                  <a:lnTo>
                    <a:pt x="729773" y="246860"/>
                  </a:lnTo>
                  <a:lnTo>
                    <a:pt x="0" y="246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617" b="-34761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286414"/>
              <a:ext cx="3514115" cy="312965"/>
            </a:xfrm>
            <a:custGeom>
              <a:avLst/>
              <a:gdLst/>
              <a:ahLst/>
              <a:cxnLst/>
              <a:rect l="l" t="t" r="r" b="b"/>
              <a:pathLst>
                <a:path w="3514115" h="312965">
                  <a:moveTo>
                    <a:pt x="0" y="0"/>
                  </a:moveTo>
                  <a:lnTo>
                    <a:pt x="3514115" y="0"/>
                  </a:lnTo>
                  <a:lnTo>
                    <a:pt x="3514115" y="312965"/>
                  </a:lnTo>
                  <a:lnTo>
                    <a:pt x="0" y="312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520" t="-963990" r="-10922" b="-310851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5800" y="4221490"/>
            <a:ext cx="10820400" cy="64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99"/>
              </a:lnSpc>
            </a:pPr>
            <a:r>
              <a:rPr lang="en-US" sz="1999" b="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Wicket Events related Cricket Video Analysis</a:t>
            </a:r>
          </a:p>
          <a:p>
            <a:pPr>
              <a:lnSpc>
                <a:spcPts val="2599"/>
              </a:lnSpc>
              <a:spcBef>
                <a:spcPct val="0"/>
              </a:spcBef>
            </a:pPr>
            <a:endParaRPr lang="en-US" sz="1999" b="1">
              <a:solidFill>
                <a:srgbClr val="2B2B2B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5800" y="5106903"/>
            <a:ext cx="10820400" cy="308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99"/>
              </a:lnSpc>
              <a:spcBef>
                <a:spcPct val="0"/>
              </a:spcBef>
            </a:pPr>
            <a:r>
              <a:rPr lang="en-US" sz="1999" b="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Specialization: Data Science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366377" y="6443309"/>
            <a:ext cx="5459246" cy="260264"/>
            <a:chOff x="0" y="-47625"/>
            <a:chExt cx="10918493" cy="52052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54557"/>
              <a:ext cx="2938130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IT22166692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44082" y="45033"/>
              <a:ext cx="4312266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ABEYSINGHE E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80363" y="45033"/>
              <a:ext cx="2938130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 dirty="0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25-26j-148 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87478" y="-47625"/>
              <a:ext cx="141572" cy="520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66"/>
                </a:lnSpc>
                <a:spcBef>
                  <a:spcPct val="0"/>
                </a:spcBef>
              </a:pPr>
              <a:r>
                <a:rPr lang="en-US" sz="1666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|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09391" y="-47625"/>
              <a:ext cx="141572" cy="520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66"/>
                </a:lnSpc>
                <a:spcBef>
                  <a:spcPct val="0"/>
                </a:spcBef>
              </a:pPr>
              <a:r>
                <a:rPr lang="en-US" sz="1666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|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85800" y="2868119"/>
            <a:ext cx="6218880" cy="106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33"/>
              </a:lnSpc>
              <a:spcBef>
                <a:spcPct val="0"/>
              </a:spcBef>
            </a:pPr>
            <a:r>
              <a:rPr lang="en-US" sz="3333" b="1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IT22166692 | ABEYSINGHE E A</a:t>
            </a:r>
          </a:p>
        </p:txBody>
      </p:sp>
    </p:spTree>
    <p:extLst>
      <p:ext uri="{BB962C8B-B14F-4D97-AF65-F5344CB8AC3E}">
        <p14:creationId xmlns:p14="http://schemas.microsoft.com/office/powerpoint/2010/main" val="257273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81" y="6403220"/>
            <a:ext cx="249304" cy="315785"/>
          </a:xfrm>
          <a:custGeom>
            <a:avLst/>
            <a:gdLst/>
            <a:ahLst/>
            <a:cxnLst/>
            <a:rect l="l" t="t" r="r" b="b"/>
            <a:pathLst>
              <a:path w="373956" h="473678">
                <a:moveTo>
                  <a:pt x="0" y="0"/>
                </a:moveTo>
                <a:lnTo>
                  <a:pt x="373956" y="0"/>
                </a:lnTo>
                <a:lnTo>
                  <a:pt x="373956" y="473678"/>
                </a:lnTo>
                <a:lnTo>
                  <a:pt x="0" y="473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09981" b="-35333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6" name="Group 6"/>
          <p:cNvGrpSpPr/>
          <p:nvPr/>
        </p:nvGrpSpPr>
        <p:grpSpPr>
          <a:xfrm>
            <a:off x="0" y="-908647"/>
            <a:ext cx="12192000" cy="1594447"/>
            <a:chOff x="0" y="0"/>
            <a:chExt cx="4816593" cy="629905"/>
          </a:xfrm>
          <a:noFill/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629905"/>
            </a:xfrm>
            <a:custGeom>
              <a:avLst/>
              <a:gdLst/>
              <a:ahLst/>
              <a:cxnLst/>
              <a:rect l="l" t="t" r="r" b="b"/>
              <a:pathLst>
                <a:path w="4816592" h="629905">
                  <a:moveTo>
                    <a:pt x="13970" y="0"/>
                  </a:moveTo>
                  <a:lnTo>
                    <a:pt x="4802622" y="0"/>
                  </a:lnTo>
                  <a:cubicBezTo>
                    <a:pt x="4806328" y="0"/>
                    <a:pt x="4809881" y="1472"/>
                    <a:pt x="4812501" y="4092"/>
                  </a:cubicBezTo>
                  <a:cubicBezTo>
                    <a:pt x="4815120" y="6712"/>
                    <a:pt x="4816592" y="10265"/>
                    <a:pt x="4816592" y="13970"/>
                  </a:cubicBezTo>
                  <a:lnTo>
                    <a:pt x="4816592" y="615935"/>
                  </a:lnTo>
                  <a:cubicBezTo>
                    <a:pt x="4816592" y="623650"/>
                    <a:pt x="4810338" y="629905"/>
                    <a:pt x="4802622" y="629905"/>
                  </a:cubicBezTo>
                  <a:lnTo>
                    <a:pt x="13970" y="629905"/>
                  </a:lnTo>
                  <a:cubicBezTo>
                    <a:pt x="6255" y="629905"/>
                    <a:pt x="0" y="623650"/>
                    <a:pt x="0" y="615935"/>
                  </a:cubicBezTo>
                  <a:lnTo>
                    <a:pt x="0" y="13970"/>
                  </a:lnTo>
                  <a:cubicBezTo>
                    <a:pt x="0" y="6255"/>
                    <a:pt x="6255" y="0"/>
                    <a:pt x="1397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4816593" cy="96328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51705"/>
              </p:ext>
            </p:extLst>
          </p:nvPr>
        </p:nvGraphicFramePr>
        <p:xfrm>
          <a:off x="852943" y="1287626"/>
          <a:ext cx="5026867" cy="35007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2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0713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700" dirty="0"/>
                    </a:p>
                  </a:txBody>
                  <a:tcPr marL="127000" marR="127000" marT="127000" marB="1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Group 16"/>
          <p:cNvGrpSpPr/>
          <p:nvPr/>
        </p:nvGrpSpPr>
        <p:grpSpPr>
          <a:xfrm>
            <a:off x="852943" y="956898"/>
            <a:ext cx="5026867" cy="603743"/>
            <a:chOff x="0" y="0"/>
            <a:chExt cx="1985920" cy="238383"/>
          </a:xfrm>
          <a:noFill/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85920" cy="238383"/>
            </a:xfrm>
            <a:custGeom>
              <a:avLst/>
              <a:gdLst/>
              <a:ahLst/>
              <a:cxnLst/>
              <a:rect l="l" t="t" r="r" b="b"/>
              <a:pathLst>
                <a:path w="1985920" h="238383">
                  <a:moveTo>
                    <a:pt x="1985920" y="0"/>
                  </a:moveTo>
                  <a:lnTo>
                    <a:pt x="1985920" y="238383"/>
                  </a:lnTo>
                  <a:lnTo>
                    <a:pt x="0" y="2383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33375"/>
              <a:ext cx="1985920" cy="57175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-1229921" y="2667831"/>
            <a:ext cx="3831441" cy="409575"/>
            <a:chOff x="0" y="0"/>
            <a:chExt cx="1513654" cy="161717"/>
          </a:xfrm>
          <a:noFill/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13654" cy="161717"/>
            </a:xfrm>
            <a:custGeom>
              <a:avLst/>
              <a:gdLst/>
              <a:ahLst/>
              <a:cxnLst/>
              <a:rect l="l" t="t" r="r" b="b"/>
              <a:pathLst>
                <a:path w="1513654" h="161717">
                  <a:moveTo>
                    <a:pt x="1513654" y="0"/>
                  </a:moveTo>
                  <a:lnTo>
                    <a:pt x="1513654" y="161717"/>
                  </a:lnTo>
                  <a:lnTo>
                    <a:pt x="0" y="161717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33375"/>
              <a:ext cx="1513654" cy="495092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aphicFrame>
        <p:nvGraphicFramePr>
          <p:cNvPr id="22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606239"/>
              </p:ext>
            </p:extLst>
          </p:nvPr>
        </p:nvGraphicFramePr>
        <p:xfrm>
          <a:off x="6607853" y="1287626"/>
          <a:ext cx="5026867" cy="35007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2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0713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700" dirty="0"/>
                    </a:p>
                  </a:txBody>
                  <a:tcPr marL="127000" marR="127000" marT="127000" marB="1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6607853" y="956898"/>
            <a:ext cx="5026867" cy="603743"/>
            <a:chOff x="0" y="0"/>
            <a:chExt cx="1985920" cy="238383"/>
          </a:xfrm>
          <a:noFill/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85920" cy="238383"/>
            </a:xfrm>
            <a:custGeom>
              <a:avLst/>
              <a:gdLst/>
              <a:ahLst/>
              <a:cxnLst/>
              <a:rect l="l" t="t" r="r" b="b"/>
              <a:pathLst>
                <a:path w="1985920" h="238383">
                  <a:moveTo>
                    <a:pt x="1985920" y="0"/>
                  </a:moveTo>
                  <a:lnTo>
                    <a:pt x="1985920" y="238383"/>
                  </a:lnTo>
                  <a:lnTo>
                    <a:pt x="0" y="2383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33375"/>
              <a:ext cx="1985920" cy="57175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4524989" y="2667831"/>
            <a:ext cx="3831441" cy="409575"/>
            <a:chOff x="0" y="0"/>
            <a:chExt cx="1513654" cy="161717"/>
          </a:xfrm>
          <a:noFill/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13654" cy="161717"/>
            </a:xfrm>
            <a:custGeom>
              <a:avLst/>
              <a:gdLst/>
              <a:ahLst/>
              <a:cxnLst/>
              <a:rect l="l" t="t" r="r" b="b"/>
              <a:pathLst>
                <a:path w="1513654" h="161717">
                  <a:moveTo>
                    <a:pt x="1513654" y="0"/>
                  </a:moveTo>
                  <a:lnTo>
                    <a:pt x="1513654" y="161717"/>
                  </a:lnTo>
                  <a:lnTo>
                    <a:pt x="0" y="161717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33375"/>
              <a:ext cx="1513654" cy="495092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66377" y="6443309"/>
            <a:ext cx="5459246" cy="260264"/>
            <a:chOff x="0" y="-47625"/>
            <a:chExt cx="10918493" cy="520528"/>
          </a:xfrm>
        </p:grpSpPr>
        <p:sp>
          <p:nvSpPr>
            <p:cNvPr id="30" name="TextBox 30"/>
            <p:cNvSpPr txBox="1"/>
            <p:nvPr/>
          </p:nvSpPr>
          <p:spPr>
            <a:xfrm>
              <a:off x="0" y="54557"/>
              <a:ext cx="2938130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IT22166692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4082" y="45033"/>
              <a:ext cx="4312266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ABEYSINGHE E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80363" y="45033"/>
              <a:ext cx="2938130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 dirty="0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25-26j-148  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87478" y="-47625"/>
              <a:ext cx="141572" cy="520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66"/>
                </a:lnSpc>
                <a:spcBef>
                  <a:spcPct val="0"/>
                </a:spcBef>
              </a:pPr>
              <a:r>
                <a:rPr lang="en-US" sz="1666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|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9391" y="-47625"/>
              <a:ext cx="141572" cy="520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66"/>
                </a:lnSpc>
                <a:spcBef>
                  <a:spcPct val="0"/>
                </a:spcBef>
              </a:pPr>
              <a:r>
                <a:rPr lang="en-US" sz="1666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|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85800" y="152973"/>
            <a:ext cx="10820400" cy="321819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1999" b="1" dirty="0">
                <a:latin typeface="Poppins Bold"/>
                <a:ea typeface="Poppins Bold"/>
                <a:cs typeface="Poppins Bold"/>
                <a:sym typeface="Poppins Bold"/>
              </a:rPr>
              <a:t>Wicket Events related Cricket Video Analysis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0588" y="1003993"/>
            <a:ext cx="5323839" cy="82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666" b="1" dirty="0">
                <a:latin typeface="Poppins Semi-Bold"/>
                <a:ea typeface="Poppins Semi-Bold"/>
                <a:cs typeface="Poppins Semi-Bold"/>
                <a:sym typeface="Poppins Semi-Bold"/>
              </a:rPr>
              <a:t>How the Solution Addresses the</a:t>
            </a:r>
          </a:p>
          <a:p>
            <a:pPr>
              <a:lnSpc>
                <a:spcPts val="2166"/>
              </a:lnSpc>
            </a:pPr>
            <a:r>
              <a:rPr lang="en-US" sz="1666" b="1" dirty="0">
                <a:latin typeface="Poppins Semi-Bold"/>
                <a:ea typeface="Poppins Semi-Bold"/>
                <a:cs typeface="Poppins Semi-Bold"/>
                <a:sym typeface="Poppins Semi-Bold"/>
              </a:rPr>
              <a:t>Sub-Problem</a:t>
            </a:r>
          </a:p>
          <a:p>
            <a:pPr>
              <a:lnSpc>
                <a:spcPts val="2166"/>
              </a:lnSpc>
              <a:spcBef>
                <a:spcPct val="0"/>
              </a:spcBef>
            </a:pPr>
            <a:endParaRPr lang="en-US" sz="1666" b="1" dirty="0"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645498" y="984943"/>
            <a:ext cx="4527195" cy="550151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666" b="1" dirty="0">
                <a:latin typeface="Poppins Semi-Bold"/>
                <a:ea typeface="Poppins Semi-Bold"/>
                <a:cs typeface="Poppins Semi-Bold"/>
                <a:sym typeface="Poppins Semi-Bold"/>
              </a:rPr>
              <a:t>User Requirements Addressed</a:t>
            </a:r>
          </a:p>
          <a:p>
            <a:pPr>
              <a:lnSpc>
                <a:spcPts val="2166"/>
              </a:lnSpc>
              <a:spcBef>
                <a:spcPct val="0"/>
              </a:spcBef>
            </a:pPr>
            <a:endParaRPr lang="en-US" sz="1666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86671" y="1681073"/>
            <a:ext cx="4759412" cy="2806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event  identification in a long cricket match videos is inefficient 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Processes full match videos (upload / URL) automatically</a:t>
            </a:r>
          </a:p>
          <a:p>
            <a:pPr algn="just"/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Automatically detects wickets, and near misses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ct val="200000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Shows clickable time tags on the original video timeline</a:t>
            </a:r>
          </a:p>
          <a:p>
            <a:pPr marL="273488" lvl="1" indent="-136744" algn="just">
              <a:lnSpc>
                <a:spcPct val="200000"/>
              </a:lnSpc>
              <a:buFont typeface="Arial"/>
              <a:buChar char="•"/>
            </a:pPr>
            <a:r>
              <a:rPr lang="en-US" sz="1333" dirty="0"/>
              <a:t>Uses </a:t>
            </a:r>
            <a:r>
              <a:rPr lang="en-US" sz="1333" b="1" dirty="0"/>
              <a:t>multi-modal fusion</a:t>
            </a:r>
            <a:r>
              <a:rPr lang="en-US" sz="1333" dirty="0"/>
              <a:t> for accurate event detection</a:t>
            </a: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video trimming – full context is preserved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746788" y="1681072"/>
            <a:ext cx="4759412" cy="244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Video upload or YouTube URL input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Clickable event markers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 events by type and team Color-coded event tags </a:t>
            </a:r>
            <a:r>
              <a:rPr lang="en-US" sz="1333" dirty="0"/>
              <a:t>for rapid Team A / Team B identification</a:t>
            </a: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333" dirty="0"/>
              <a:t>Detailed metadata display (e.g., "Team A - Wicket (LBW)" or "Team B - Potential Wicket (Easy Catch Dropped)").</a:t>
            </a:r>
          </a:p>
          <a:p>
            <a:pPr marL="136744" lvl="1"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Natural language search "Wickets of 2nd over – Team B”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6888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81" y="6403220"/>
            <a:ext cx="249304" cy="315785"/>
          </a:xfrm>
          <a:custGeom>
            <a:avLst/>
            <a:gdLst/>
            <a:ahLst/>
            <a:cxnLst/>
            <a:rect l="l" t="t" r="r" b="b"/>
            <a:pathLst>
              <a:path w="373956" h="473678">
                <a:moveTo>
                  <a:pt x="0" y="0"/>
                </a:moveTo>
                <a:lnTo>
                  <a:pt x="373956" y="0"/>
                </a:lnTo>
                <a:lnTo>
                  <a:pt x="373956" y="473678"/>
                </a:lnTo>
                <a:lnTo>
                  <a:pt x="0" y="473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09981" b="-35333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6" name="Group 6"/>
          <p:cNvGrpSpPr/>
          <p:nvPr/>
        </p:nvGrpSpPr>
        <p:grpSpPr>
          <a:xfrm>
            <a:off x="0" y="-908647"/>
            <a:ext cx="12192000" cy="1594447"/>
            <a:chOff x="0" y="0"/>
            <a:chExt cx="4816593" cy="6299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629905"/>
            </a:xfrm>
            <a:custGeom>
              <a:avLst/>
              <a:gdLst/>
              <a:ahLst/>
              <a:cxnLst/>
              <a:rect l="l" t="t" r="r" b="b"/>
              <a:pathLst>
                <a:path w="4816592" h="629905">
                  <a:moveTo>
                    <a:pt x="13970" y="0"/>
                  </a:moveTo>
                  <a:lnTo>
                    <a:pt x="4802622" y="0"/>
                  </a:lnTo>
                  <a:cubicBezTo>
                    <a:pt x="4806328" y="0"/>
                    <a:pt x="4809881" y="1472"/>
                    <a:pt x="4812501" y="4092"/>
                  </a:cubicBezTo>
                  <a:cubicBezTo>
                    <a:pt x="4815120" y="6712"/>
                    <a:pt x="4816592" y="10265"/>
                    <a:pt x="4816592" y="13970"/>
                  </a:cubicBezTo>
                  <a:lnTo>
                    <a:pt x="4816592" y="615935"/>
                  </a:lnTo>
                  <a:cubicBezTo>
                    <a:pt x="4816592" y="623650"/>
                    <a:pt x="4810338" y="629905"/>
                    <a:pt x="4802622" y="629905"/>
                  </a:cubicBezTo>
                  <a:lnTo>
                    <a:pt x="13970" y="629905"/>
                  </a:lnTo>
                  <a:cubicBezTo>
                    <a:pt x="6255" y="629905"/>
                    <a:pt x="0" y="623650"/>
                    <a:pt x="0" y="615935"/>
                  </a:cubicBezTo>
                  <a:lnTo>
                    <a:pt x="0" y="13970"/>
                  </a:lnTo>
                  <a:cubicBezTo>
                    <a:pt x="0" y="6255"/>
                    <a:pt x="6255" y="0"/>
                    <a:pt x="13970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4816593" cy="9632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007002"/>
              </p:ext>
            </p:extLst>
          </p:nvPr>
        </p:nvGraphicFramePr>
        <p:xfrm>
          <a:off x="852943" y="1287626"/>
          <a:ext cx="5026867" cy="33468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2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6877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700" dirty="0"/>
                    </a:p>
                  </a:txBody>
                  <a:tcPr marL="127000" marR="127000" marT="127000" marB="1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Group 16"/>
          <p:cNvGrpSpPr/>
          <p:nvPr/>
        </p:nvGrpSpPr>
        <p:grpSpPr>
          <a:xfrm>
            <a:off x="852943" y="956898"/>
            <a:ext cx="5026867" cy="603743"/>
            <a:chOff x="0" y="0"/>
            <a:chExt cx="1985920" cy="238383"/>
          </a:xfrm>
          <a:noFill/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85920" cy="238383"/>
            </a:xfrm>
            <a:custGeom>
              <a:avLst/>
              <a:gdLst/>
              <a:ahLst/>
              <a:cxnLst/>
              <a:rect l="l" t="t" r="r" b="b"/>
              <a:pathLst>
                <a:path w="1985920" h="238383">
                  <a:moveTo>
                    <a:pt x="1985920" y="0"/>
                  </a:moveTo>
                  <a:lnTo>
                    <a:pt x="1985920" y="238383"/>
                  </a:lnTo>
                  <a:lnTo>
                    <a:pt x="0" y="2383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33375"/>
              <a:ext cx="1985920" cy="57175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-1080635" y="2518545"/>
            <a:ext cx="3607457" cy="484162"/>
            <a:chOff x="0" y="0"/>
            <a:chExt cx="1187716" cy="161717"/>
          </a:xfrm>
          <a:noFill/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87716" cy="161717"/>
            </a:xfrm>
            <a:custGeom>
              <a:avLst/>
              <a:gdLst/>
              <a:ahLst/>
              <a:cxnLst/>
              <a:rect l="l" t="t" r="r" b="b"/>
              <a:pathLst>
                <a:path w="1187716" h="161717">
                  <a:moveTo>
                    <a:pt x="1187716" y="0"/>
                  </a:moveTo>
                  <a:lnTo>
                    <a:pt x="1187716" y="161717"/>
                  </a:lnTo>
                  <a:lnTo>
                    <a:pt x="0" y="161717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33375"/>
              <a:ext cx="1187716" cy="495092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aphicFrame>
        <p:nvGraphicFramePr>
          <p:cNvPr id="22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537908"/>
              </p:ext>
            </p:extLst>
          </p:nvPr>
        </p:nvGraphicFramePr>
        <p:xfrm>
          <a:off x="6607853" y="1287626"/>
          <a:ext cx="5026867" cy="33468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2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6877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700" dirty="0"/>
                    </a:p>
                  </a:txBody>
                  <a:tcPr marL="127000" marR="127000" marT="127000" marB="1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6607853" y="956898"/>
            <a:ext cx="5026867" cy="603743"/>
            <a:chOff x="0" y="0"/>
            <a:chExt cx="1985920" cy="238383"/>
          </a:xfrm>
          <a:noFill/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85920" cy="238383"/>
            </a:xfrm>
            <a:custGeom>
              <a:avLst/>
              <a:gdLst/>
              <a:ahLst/>
              <a:cxnLst/>
              <a:rect l="l" t="t" r="r" b="b"/>
              <a:pathLst>
                <a:path w="1985920" h="238383">
                  <a:moveTo>
                    <a:pt x="1985920" y="0"/>
                  </a:moveTo>
                  <a:lnTo>
                    <a:pt x="1985920" y="238383"/>
                  </a:lnTo>
                  <a:lnTo>
                    <a:pt x="0" y="2383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33375"/>
              <a:ext cx="1985920" cy="57175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4636981" y="2555839"/>
            <a:ext cx="3607457" cy="409575"/>
            <a:chOff x="0" y="0"/>
            <a:chExt cx="1187716" cy="161717"/>
          </a:xfrm>
          <a:noFill/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87716" cy="161717"/>
            </a:xfrm>
            <a:custGeom>
              <a:avLst/>
              <a:gdLst/>
              <a:ahLst/>
              <a:cxnLst/>
              <a:rect l="l" t="t" r="r" b="b"/>
              <a:pathLst>
                <a:path w="1187716" h="161717">
                  <a:moveTo>
                    <a:pt x="1187716" y="0"/>
                  </a:moveTo>
                  <a:lnTo>
                    <a:pt x="1187716" y="161717"/>
                  </a:lnTo>
                  <a:lnTo>
                    <a:pt x="0" y="161717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33375"/>
              <a:ext cx="1187716" cy="495092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4166"/>
                </a:lnSpc>
              </a:pPr>
              <a:endParaRPr sz="1200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66377" y="6443309"/>
            <a:ext cx="5459246" cy="260264"/>
            <a:chOff x="0" y="-47625"/>
            <a:chExt cx="10918493" cy="520528"/>
          </a:xfrm>
        </p:grpSpPr>
        <p:sp>
          <p:nvSpPr>
            <p:cNvPr id="30" name="TextBox 30"/>
            <p:cNvSpPr txBox="1"/>
            <p:nvPr/>
          </p:nvSpPr>
          <p:spPr>
            <a:xfrm>
              <a:off x="0" y="54557"/>
              <a:ext cx="2938130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IT22166692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4082" y="45033"/>
              <a:ext cx="4312266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ABEYSINGHE E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80363" y="45033"/>
              <a:ext cx="2938130" cy="40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33"/>
                </a:lnSpc>
                <a:spcBef>
                  <a:spcPct val="0"/>
                </a:spcBef>
              </a:pPr>
              <a:r>
                <a:rPr lang="en-US" sz="1333" b="1" dirty="0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25-26j-148 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87478" y="-47625"/>
              <a:ext cx="141572" cy="520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66"/>
                </a:lnSpc>
                <a:spcBef>
                  <a:spcPct val="0"/>
                </a:spcBef>
              </a:pPr>
              <a:r>
                <a:rPr lang="en-US" sz="1666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|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9391" y="-47625"/>
              <a:ext cx="141572" cy="520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66"/>
                </a:lnSpc>
                <a:spcBef>
                  <a:spcPct val="0"/>
                </a:spcBef>
              </a:pPr>
              <a:r>
                <a:rPr lang="en-US" sz="1666" b="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|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85800" y="152973"/>
            <a:ext cx="10820400" cy="32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1999" b="1" dirty="0">
                <a:latin typeface="Poppins Bold"/>
                <a:ea typeface="Poppins Bold"/>
                <a:cs typeface="Poppins Bold"/>
                <a:sym typeface="Poppins Bold"/>
              </a:rPr>
              <a:t>Wicket Events related Cricket Video Analysis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0587" y="984943"/>
            <a:ext cx="3660884" cy="82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666" b="1" dirty="0">
                <a:latin typeface="Poppins Semi-Bold"/>
                <a:ea typeface="Poppins Semi-Bold"/>
                <a:cs typeface="Poppins Semi-Bold"/>
                <a:sym typeface="Poppins Semi-Bold"/>
              </a:rPr>
              <a:t>Design Excellence &amp; User Feedback</a:t>
            </a:r>
          </a:p>
          <a:p>
            <a:pPr>
              <a:lnSpc>
                <a:spcPts val="2166"/>
              </a:lnSpc>
            </a:pPr>
            <a:endParaRPr lang="en-US" sz="1666" b="1" dirty="0"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>
              <a:lnSpc>
                <a:spcPts val="2166"/>
              </a:lnSpc>
              <a:spcBef>
                <a:spcPct val="0"/>
              </a:spcBef>
            </a:pPr>
            <a:endParaRPr lang="en-US" sz="1666" b="1" dirty="0"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666993" y="984943"/>
            <a:ext cx="5043995" cy="832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1666" b="1" dirty="0">
                <a:latin typeface="Poppins Semi-Bold"/>
                <a:ea typeface="Poppins Semi-Bold"/>
                <a:cs typeface="Poppins Semi-Bold"/>
                <a:sym typeface="Poppins Semi-Bold"/>
              </a:rPr>
              <a:t>User Feedback on Prototype</a:t>
            </a:r>
          </a:p>
          <a:p>
            <a:pPr>
              <a:lnSpc>
                <a:spcPts val="2166"/>
              </a:lnSpc>
            </a:pPr>
            <a:endParaRPr lang="en-US" sz="1666" b="1" dirty="0"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>
              <a:lnSpc>
                <a:spcPts val="2166"/>
              </a:lnSpc>
              <a:spcBef>
                <a:spcPct val="0"/>
              </a:spcBef>
            </a:pPr>
            <a:endParaRPr lang="en-US" sz="1666" b="1" dirty="0"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86671" y="1681072"/>
            <a:ext cx="4759412" cy="225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Event-based navigation instead of highlight generation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333" dirty="0"/>
              <a:t>Integrates </a:t>
            </a:r>
            <a:r>
              <a:rPr lang="en-US" sz="1333" b="1" dirty="0"/>
              <a:t>multi-modal fusion, temporal tagging, and search</a:t>
            </a:r>
          </a:p>
          <a:p>
            <a:pPr marL="136744" lvl="1"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multiple events within the same segment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Scalable sports analytics prototype</a:t>
            </a: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333" dirty="0"/>
              <a:t>Visual distinction improves </a:t>
            </a:r>
            <a:r>
              <a:rPr lang="en-US" sz="1333" b="1" dirty="0"/>
              <a:t>speed and clarity of analysis</a:t>
            </a: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746788" y="1681072"/>
            <a:ext cx="4759412" cy="301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333" dirty="0"/>
              <a:t>Clickable timeline tags significantly </a:t>
            </a:r>
            <a:r>
              <a:rPr lang="en-US" sz="1333" b="1" dirty="0"/>
              <a:t>reduce review time</a:t>
            </a: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endParaRPr lang="en-US" sz="1333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Filtering improves usability and clarity</a:t>
            </a: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333" dirty="0"/>
              <a:t>Search-based navigation is </a:t>
            </a:r>
            <a:r>
              <a:rPr lang="en-US" sz="1333" b="1" dirty="0"/>
              <a:t>intuitive and effective</a:t>
            </a: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endParaRPr lang="en-US" sz="1333" b="1" dirty="0"/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333" dirty="0"/>
              <a:t>Granular metadata adds </a:t>
            </a:r>
            <a:r>
              <a:rPr lang="en-US" sz="1333" b="1" dirty="0"/>
              <a:t>analytical value before interaction</a:t>
            </a:r>
          </a:p>
          <a:p>
            <a:pPr marL="136744" lvl="1"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r>
              <a:rPr lang="en-US" sz="126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Overall: efficient and user-friendly</a:t>
            </a: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1200" b="1" dirty="0"/>
              <a:t>Future enhancement:</a:t>
            </a:r>
            <a:endParaRPr lang="en-US" sz="1200" dirty="0"/>
          </a:p>
          <a:p>
            <a:pPr lvl="1"/>
            <a:r>
              <a:rPr lang="en-US" sz="1200" dirty="0"/>
              <a:t>Visualize </a:t>
            </a:r>
            <a:r>
              <a:rPr lang="en-US" sz="1200" b="1" dirty="0"/>
              <a:t>pitch view with fielder positions</a:t>
            </a:r>
            <a:r>
              <a:rPr lang="en-US" sz="1200" dirty="0"/>
              <a:t> during wicket (catch) events</a:t>
            </a:r>
          </a:p>
          <a:p>
            <a:pPr marL="273488" lvl="1" indent="-136744" algn="just">
              <a:lnSpc>
                <a:spcPts val="1647"/>
              </a:lnSpc>
              <a:buFont typeface="Arial"/>
              <a:buChar char="•"/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47"/>
              </a:lnSpc>
            </a:pPr>
            <a:endParaRPr lang="en-US" sz="12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4313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PP1_Presentation_IT22141606</Template>
  <TotalTime>17</TotalTime>
  <Words>981</Words>
  <Application>Microsoft Office PowerPoint</Application>
  <PresentationFormat>Widescreen</PresentationFormat>
  <Paragraphs>154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Adobe Devanagari</vt:lpstr>
      <vt:lpstr>Arial</vt:lpstr>
      <vt:lpstr>Calibri</vt:lpstr>
      <vt:lpstr>Cambria</vt:lpstr>
      <vt:lpstr>Poppins</vt:lpstr>
      <vt:lpstr>Poppins Bold</vt:lpstr>
      <vt:lpstr>Poppins Semi-Bold</vt:lpstr>
      <vt:lpstr>Wingdings</vt:lpstr>
      <vt:lpstr>Office Theme</vt:lpstr>
      <vt:lpstr>PLAYER BASED SEGMENTATION AND WICKET EVENT RELATED VIDEO ANALYSIS IN CRICKET VIDEOS</vt:lpstr>
      <vt:lpstr>IT22141606  | Rathnayake R M N 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Dimalsha Rathnayake</dc:creator>
  <cp:lastModifiedBy>Dimalsha Rathnayake</cp:lastModifiedBy>
  <cp:revision>2</cp:revision>
  <dcterms:created xsi:type="dcterms:W3CDTF">2026-04-23T20:00:45Z</dcterms:created>
  <dcterms:modified xsi:type="dcterms:W3CDTF">2026-04-23T20:33:38Z</dcterms:modified>
</cp:coreProperties>
</file>